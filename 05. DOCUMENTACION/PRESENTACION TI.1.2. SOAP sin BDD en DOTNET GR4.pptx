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5"/>
  </p:notesMasterIdLst>
  <p:sldIdLst>
    <p:sldId id="330" r:id="rId2"/>
    <p:sldId id="331" r:id="rId3"/>
    <p:sldId id="332" r:id="rId4"/>
    <p:sldId id="337" r:id="rId5"/>
    <p:sldId id="338" r:id="rId6"/>
    <p:sldId id="339" r:id="rId7"/>
    <p:sldId id="340" r:id="rId8"/>
    <p:sldId id="341" r:id="rId9"/>
    <p:sldId id="342" r:id="rId10"/>
    <p:sldId id="343" r:id="rId11"/>
    <p:sldId id="344" r:id="rId12"/>
    <p:sldId id="345" r:id="rId13"/>
    <p:sldId id="346" r:id="rId14"/>
    <p:sldId id="347" r:id="rId15"/>
    <p:sldId id="348" r:id="rId16"/>
    <p:sldId id="349" r:id="rId17"/>
    <p:sldId id="350" r:id="rId18"/>
    <p:sldId id="351" r:id="rId19"/>
    <p:sldId id="352" r:id="rId20"/>
    <p:sldId id="353" r:id="rId21"/>
    <p:sldId id="354" r:id="rId22"/>
    <p:sldId id="357" r:id="rId23"/>
    <p:sldId id="358" r:id="rId24"/>
  </p:sldIdLst>
  <p:sldSz cx="12192000" cy="6858000"/>
  <p:notesSz cx="6858000" cy="9144000"/>
  <p:embeddedFontLst>
    <p:embeddedFont>
      <p:font typeface="Cambria" panose="02040503050406030204" pitchFamily="18" charset="0"/>
      <p:regular r:id="rId26"/>
      <p:bold r:id="rId27"/>
      <p:italic r:id="rId28"/>
      <p:boldItalic r:id="rId29"/>
    </p:embeddedFont>
    <p:embeddedFont>
      <p:font typeface="Gill Sans" panose="020B0604020202020204" charset="0"/>
      <p:regular r:id="rId30"/>
      <p:bold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MX">
                <a:solidFill>
                  <a:schemeClr val="lt1"/>
                </a:solidFill>
              </a:rPr>
              <a:t>MANUAL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CONVERSIÓN UNIDADES SOAP .NET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7625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  <a:tabLst>
                <a:tab pos="1905000" algn="l"/>
              </a:tabLst>
            </a:pPr>
            <a:r>
              <a:rPr lang="es-EC" b="1">
                <a:solidFill>
                  <a:schemeClr val="lt1"/>
                </a:solidFill>
              </a:rPr>
              <a:t>INTEGRANTES:</a:t>
            </a:r>
            <a:r>
              <a:rPr lang="es-EC">
                <a:solidFill>
                  <a:schemeClr val="lt1"/>
                </a:solidFill>
              </a:rPr>
              <a:t>	ESCOBAR MARCOS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ÑATO CARLOS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SOSA DIEGO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4978400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 [dd/mm/aaaa]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CAMPAÑA MAURICIO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NRC: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36883 – GR04</a:t>
            </a:r>
            <a:endParaRPr sz="160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00196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 dirty="0">
                <a:solidFill>
                  <a:srgbClr val="FFFFFF"/>
                </a:solidFill>
                <a:latin typeface="Gill Sans" panose="020B0604020202020204" charset="0"/>
              </a:rPr>
              <a:t>DESARROLLO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 dirty="0">
                <a:solidFill>
                  <a:srgbClr val="FFFFFF"/>
                </a:solidFill>
                <a:latin typeface="Gill Sans" panose="020B0604020202020204" charset="0"/>
              </a:rPr>
              <a:t>OBJETIVO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</a:t>
            </a:r>
            <a:r>
              <a:rPr lang="es-MX" sz="1400" dirty="0">
                <a:solidFill>
                  <a:srgbClr val="FFFFFF"/>
                </a:solidFill>
                <a:latin typeface="Gill Sans" panose="020B0604020202020204" charset="0"/>
              </a:rPr>
              <a:t>DEL SERVIDOR SOAP EN .NET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 dirty="0">
                <a:solidFill>
                  <a:srgbClr val="FFFFFF"/>
                </a:solidFill>
                <a:latin typeface="Gill Sans" panose="020B0604020202020204" charset="0"/>
              </a:rPr>
              <a:t>CREACIÓN DEL PROYECTO – CLIENTE CONSOLA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 dirty="0">
                <a:solidFill>
                  <a:srgbClr val="FFFFFF"/>
                </a:solidFill>
                <a:latin typeface="Gill Sans" panose="020B0604020202020204" charset="0"/>
              </a:rPr>
              <a:t>CREACIÓN DEL PROYECTO – CLIENTE ESCRITORIO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 dirty="0">
                <a:solidFill>
                  <a:srgbClr val="FFFFFF"/>
                </a:solidFill>
                <a:latin typeface="Gill Sans" panose="020B0604020202020204" charset="0"/>
              </a:rPr>
              <a:t>CREACIÓN DEL PROYECTO – CLIENTE WEB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 dirty="0">
                <a:solidFill>
                  <a:srgbClr val="FFFFFF"/>
                </a:solidFill>
                <a:latin typeface="Gill Sans" panose="020B0604020202020204" charset="0"/>
              </a:rPr>
              <a:t>CREACIÓN DEL PROYECTO – CLIENTE MÓVIL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CONCLUSIONES</a:t>
            </a:r>
            <a:endParaRPr lang="es-MX" sz="1700" dirty="0">
              <a:solidFill>
                <a:srgbClr val="FFFFFF"/>
              </a:solidFill>
              <a:latin typeface="Gill Sans" panose="020B0604020202020204" charset="0"/>
            </a:endParaRP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 dirty="0">
                <a:solidFill>
                  <a:srgbClr val="FFFFFF"/>
                </a:solidFill>
                <a:latin typeface="Gill Sans" panose="020B0604020202020204" charset="0"/>
              </a:rPr>
              <a:t>RECOMENDACIONES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endParaRPr sz="1700" dirty="0">
              <a:solidFill>
                <a:srgbClr val="FFFFFF"/>
              </a:solidFill>
              <a:latin typeface="Gill Sans" panose="020B0604020202020204" charset="0"/>
            </a:endParaRPr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2850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1.1	OBJETIVO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 general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Desarrollar un sistema de conversión de unidades basado en un servicio web SOAP en .NET, sin base de datos, consumido por clientes de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Objetivos específicos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Implementar el servidor SOAP con autenticación por token y conversión de seis magnitudes.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Construir los cuatro clientes aplicando el patrón MVC.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07256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	CREACIÓN DEL SERVIDOR SOAP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ES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ASP.NET Core + SoapCore · http://localhost:5052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ES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1.2.1	Creación del proyecto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Crear un proyecto ASP.NET Core Web API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Nombrarlo WS_CON_UNI_DOTNET_SOAP (también es su espacio de nombres).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Configurar Kestrel en http://localhost:5052 (launchSettings.json).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Agregar las dependencias: SoapCore 1.2.1.16.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93930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1.2.2	Estructura del proyecto (MVC)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Controladores: LoginController y ConverterController.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Modelos: DTO de respuesta, datos de conversión por magnitud y enumeraciones.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Servicios: TokenService genera y valida el token de sesión.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 web SOAP (LoginWebService, CatalogWebService y ConverterWebService): exponen las operaciones al exterior.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436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1.2.3	Operaciones expuestas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822999C-BCB5-FA7F-D928-35F19A83B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686575"/>
              </p:ext>
            </p:extLst>
          </p:nvPr>
        </p:nvGraphicFramePr>
        <p:xfrm>
          <a:off x="584200" y="2680042"/>
          <a:ext cx="8585200" cy="101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0788">
                  <a:extLst>
                    <a:ext uri="{9D8B030D-6E8A-4147-A177-3AD203B41FA5}">
                      <a16:colId xmlns:a16="http://schemas.microsoft.com/office/drawing/2014/main" val="1406091940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3804850320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1979091512"/>
                    </a:ext>
                  </a:extLst>
                </a:gridCol>
                <a:gridCol w="3382049">
                  <a:extLst>
                    <a:ext uri="{9D8B030D-6E8A-4147-A177-3AD203B41FA5}">
                      <a16:colId xmlns:a16="http://schemas.microsoft.com/office/drawing/2014/main" val="301281235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Operación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Entrada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Salida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Descripción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9013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usuario, clave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Valida las credenciales y entrega un token de sesión.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362553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Catálogo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lista de unidades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Devuelve las unidades disponibles de una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955118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Conversión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magnitud, valor, desde, hacia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resultado,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Convierte un valor entre dos unidades de la misma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10894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C953B56-F15A-6DE3-6099-498169503304}"/>
              </a:ext>
            </a:extLst>
          </p:cNvPr>
          <p:cNvSpPr txBox="1"/>
          <p:nvPr/>
        </p:nvSpPr>
        <p:spPr>
          <a:xfrm>
            <a:off x="584200" y="4417402"/>
            <a:ext cx="85852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Rutas en este proyecto:  login → /LoginWebService.svc  ·  catálogo → /CatalogWebService.svc  ·  conversión → /ConverterWebService.svc</a:t>
            </a:r>
          </a:p>
        </p:txBody>
      </p:sp>
    </p:spTree>
    <p:extLst>
      <p:ext uri="{BB962C8B-B14F-4D97-AF65-F5344CB8AC3E}">
        <p14:creationId xmlns:p14="http://schemas.microsoft.com/office/powerpoint/2010/main" val="16907821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1.2.4	Magnitudes y unidades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AAD0A6-1045-4471-D5C0-F10C0D7CE8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102710"/>
              </p:ext>
            </p:extLst>
          </p:nvPr>
        </p:nvGraphicFramePr>
        <p:xfrm>
          <a:off x="584200" y="2680042"/>
          <a:ext cx="8585200" cy="177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6300">
                  <a:extLst>
                    <a:ext uri="{9D8B030D-6E8A-4147-A177-3AD203B41FA5}">
                      <a16:colId xmlns:a16="http://schemas.microsoft.com/office/drawing/2014/main" val="3266884142"/>
                    </a:ext>
                  </a:extLst>
                </a:gridCol>
                <a:gridCol w="6438900">
                  <a:extLst>
                    <a:ext uri="{9D8B030D-6E8A-4147-A177-3AD203B41FA5}">
                      <a16:colId xmlns:a16="http://schemas.microsoft.com/office/drawing/2014/main" val="1125767809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Unidades soportadas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58612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Longitud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 · cm · ft · yd · mi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83995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Masa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g · kg · oz · lb · qq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236674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Volumen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de-DE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mL · L · m3 · ft3 · gal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14157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Tiempo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l-PL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ms · s · min · h · d · w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306947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Temperatura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t-BR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°C · °F · K · °N · °Ré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8838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Área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cm2 · m2 · km2 · ha · ft2 · ac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2657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3743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1.2.5	Código clave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[ServiceContract] y [OperationContract] definen el contrato; SoapCore lo publica como endpoint .svc con su WSDL.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registra tres servicios (Login, Catalog y Converter) y cada uno valida el token antes de responder.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6572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[ServiceContract]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interface IConverterWebService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[OperationContract]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ConverterResponseDTO Convert(string token, string type,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double value, string from, string 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Program.cs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builder.Services.AddSoapCore();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builder.Services.AddSingleton&lt;IConverterWebService,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ConverterWebService&gt;();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app.UseEndpoints(endpoints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_ = endpoints.UseSoapEndpoint&lt;IConverterWebService&gt;(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"/ConverterWebService.svc",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SoapEncoderOptions(), SoapSerializer.XmlSerializer);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8994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1.2.6	Ejecución del servidor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Ejecutar el servidor desde Visual Studio 2026 o con dotnet run.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Comprobar el WSDL en http://localhost:5052/LoginWebService.svc?wsdl.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Usuario de prueba: user / 1234.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966428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	CREACIÓN DEL PROYECTO – CLIENTE CONSOLA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.NET 10 + cliente WCF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CONSOLE_CON_UNI_DOTNET_SOAP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menú en la terminal.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070491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LoginWebServiceClient es el cliente WCF generado desde el WSDL del servidor.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llamada es asíncrona (async/await) y devuelve el DTO con estado, mensaje y token.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67D679A-A4BC-3014-84FE-03FEF00D2E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306060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3875235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internal class LoginHTTP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LoginWebServiceClient _client;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LoginHTTP()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_client = new LoginWebServiceClient();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Task&lt;LoginResponseDTO?&gt; LoginAsync(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var response = await _client.LoginAsync(username,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response.Body.LoginResult;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1223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28225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B46213-429F-B608-632F-F9EE0C2464BB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F24831A3-148E-F234-87FC-B7C92AC699A4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A20512-C17E-9BE6-F1B7-A95A1F3100AB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305D5504-C8D4-064F-0C33-FCB945D4FF0E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54EE60-948A-66BA-9234-EA4BA6BBE9F9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E7ED1345-A02E-C4C7-811F-C097B2630B19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23295609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	CREACIÓN DEL PROYECTO – CLIENTE ESCRITORIO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WinForms + WCF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ESC_CON_UNI_DOTNET_SOAP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ventanas de login y principal.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891021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 un canal WCF (ChannelFactory) por cada servicio .svc con BasicHttpBinding, el enlace SOAP básico.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Los tiempos de espera (5 s y 15 s) evitan esperas sin fin si el servidor no responde.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084624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var binding = new BasicHttpBinding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OpenTimeout = TiempoConexion,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SendTimeout = TiempoPeticion,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ReceiveTimeout = TiempoPeticion,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MaxReceivedMessageSize = int.MaxValue,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return new ConversorServicio(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new CanalLogin(new ChannelFactory&lt;ILoginWebService&gt;(binding,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EndpointAddress(urlBase + "/LoginWebService.svc"))),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new CanalCatalogo(new ChannelFactory&lt;ICatalogWebService&gt;(binding,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EndpointAddress(urlBase + "/CatalogWebService.svc"))),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new CanalConversor(new ChannelFactory&lt;IConverterWebService&gt;(binding,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EndpointAddress(urlBase + "/ConverterWebService.svc"))),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91927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633829-1DD7-C254-3C14-C8FDDB1C9FD9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41593887-94B7-BDDF-2569-60CB9E6D4DD2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5A4C0C-24A8-7899-C043-0E4D4C60189D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D71AAD67-5FE8-7F05-AC62-94901837385A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EB62AD-895B-21FF-1500-4DCDD5287956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EB32E82B-2DB1-B4CF-89EF-90DEA885BB51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23307768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	CREACIÓN DEL PROYECTO – CLIENTE WEB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ASP.NET Core MVC + WCF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WEB_CON_UNI_DOTNET_SOAP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páginas de login, menú,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106362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controlador MVC recibe el formulario y llama al servidor SOAP a través de FabricaServicios (canales WCF).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Si el login falla, vuelve a mostrar la vista con el mensaje; si funciona, guarda la sesión y va al menú.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225210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[HttpPost("/login")]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async Task&lt;IActionResult&gt; Ingresar(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string? usuario, string? clave)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vista = new LoginVista { Usuario = usuario ?? ""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... validación de campos vacíos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await fabrica.CrearServicio(sesion)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.IniciarSesionAsync(usuario.Trim(),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catch (ServicioException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vista.Error = e.Message;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VistaAsync(vista);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SesionUsuario.Guardar(HttpContext,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Redirect("~/menu");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610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D5A7E5-0310-2F4A-184B-2144A2F83252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C15036A6-AD4F-5E49-F456-3CED965BAAD4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36EE0A-92F3-BA3F-8DCE-CE89FF31A27C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0D78918E-297E-A27E-32E7-034D2D5C1703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792AB8-73E1-ACAE-A962-4D72E43DA3D9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26B4729B-7F8F-CF81-8FF1-B7FEC9645281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4240942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	CREACIÓN DEL PROYECTO – CLIENTE MÓVIL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.NET MAUI (Android)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MOV_CON_UNI_DOTNET_SOAP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pantallas de login,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204398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app MAUI usa el cliente WCF generado y apunta a la IP de la PC en la red (SoapConfig.BaseUrl).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Si no hay conexión o se agota el tiempo, cierra el canal y muestra "No se pudo conectar con el servidor".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967136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var client = new SoapLogin.LoginWebServiceClient(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SoapLogin.LoginWebServiceClient.EndpointConfiguration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.BasicHttpBinding_ILoginWebService_soap,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SoapConfig.BaseUrl + "/LoginWebService.svc");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response = await client.LoginAsync(username,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await client.CloseAsync();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dto = response.Body.LoginResult;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new LoginResult(dto.estado == SoapLogin.EstadosEnum.OK,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dto.mensaje ?? "", dto.token);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catch (Exception ex) when (ex is CommunicationException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  or TimeoutException)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client.Abort();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new LoginResult(false,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"No se pudo conectar con el servidor",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80017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F6C813-06A0-4F01-9E4C-0E0CF05C8C2D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01C539FB-AE0B-4B8B-7DD5-AD233E4C27ED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758125-3C13-AD78-9C76-DAAAEE05474C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E316B965-A3B3-826D-0C8E-D7022F28216D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8385C9-7B7A-28BE-CF9F-7520B7660FAF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FCCE65EA-592C-0033-83B1-A47C72625870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41352121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SOAP fue consumido por cuatro clientes distintos sin cambiar su lógica, lo que muestra la interoperabilidad de una arquitectura orientada a servicios.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autenticación por token separa la seguridad de la lógica de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Aplicar MVC en cada cliente permitió repetir la misma estructura en consola, escritorio, web y móvil.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SoapCore permitió publicar servicios SOAP con su contrato WSDL sobre ASP.NET Core, sin depender de WCF en el servidor.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84380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una base de datos para los usuarios y el historial de conversiones.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HTTPS y WS-Security para proteger el token en la red.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Validar en el servidor que las dos unidades pertenezcan a la magnitud elegida.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Regenerar las referencias de servicio de los clientes cada vez que cambie el contrato WSDL del servidor.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4076174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2417</Words>
  <Application>Microsoft Office PowerPoint</Application>
  <PresentationFormat>Widescreen</PresentationFormat>
  <Paragraphs>459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Gill Sans</vt:lpstr>
      <vt:lpstr>Calibri</vt:lpstr>
      <vt:lpstr>Cambria</vt:lpstr>
      <vt:lpstr>Noto Sans Symbols</vt:lpstr>
      <vt:lpstr>Dividendo</vt:lpstr>
      <vt:lpstr>MANUAL CONVERSIÓN UNIDADES SOAP .NET</vt:lpstr>
      <vt:lpstr>PowerPoint Presentation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Carlos</cp:lastModifiedBy>
  <cp:revision>3</cp:revision>
  <dcterms:modified xsi:type="dcterms:W3CDTF">2026-10-27T14:48:10Z</dcterms:modified>
</cp:coreProperties>
</file>