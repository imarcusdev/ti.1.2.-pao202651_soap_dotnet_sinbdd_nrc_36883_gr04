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2"/>
  </p:notes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48" r:id="rId20"/>
    <p:sldId id="349" r:id="rId21"/>
    <p:sldId id="350" r:id="rId22"/>
    <p:sldId id="351" r:id="rId23"/>
    <p:sldId id="352" r:id="rId24"/>
    <p:sldId id="353" r:id="rId25"/>
    <p:sldId id="354" r:id="rId26"/>
    <p:sldId id="355" r:id="rId27"/>
    <p:sldId id="356" r:id="rId28"/>
    <p:sldId id="357" r:id="rId29"/>
    <p:sldId id="358" r:id="rId30"/>
    <p:sldId id="359" r:id="rId31"/>
  </p:sldIdLst>
  <p:sldSz cx="12192000" cy="6858000"/>
  <p:notesSz cx="6858000" cy="9144000"/>
  <p:embeddedFontLst>
    <p:embeddedFont>
      <p:font typeface="Cambria" panose="02040503050406030204" pitchFamily="18" charset="0"/>
      <p:regular r:id="rId33"/>
      <p:bold r:id="rId34"/>
      <p:italic r:id="rId35"/>
      <p:boldItalic r:id="rId36"/>
    </p:embeddedFont>
    <p:embeddedFont>
      <p:font typeface="Gill Sans" panose="020B0604020202020204" charset="0"/>
      <p:regular r:id="rId37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SOAP .NET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0196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MARCO TEÓRICO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SOAP EN .NET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PRUEBAS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REFERENCIAS</a:t>
            </a: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850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SOAP en .NET,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SOAP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Verificar el funcionamiento de cada cliente contra el servidor mediante pruebas.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7256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MARCO TEÓRICO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Conceptos base y visión general del sistema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SOAP y WSDL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Intercambia mensajes XML dentro de un sobre (Envelope). Un contrato WSDL describe las operaciones del servicio.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Ventaja: los clientes se generan automáticamente desde el WSDL (referencia de servicio WCF).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65209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Arquitectura SOA y patrón MVC</a:t>
            </a:r>
          </a:p>
          <a:p>
            <a:pPr marL="342900" indent="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6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Arquitectura orientada a servicios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expone la lógica como servicios que se consumen por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Clientes en distintas plataformas usan el mismo servicio sin conocer su implementación.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Cada parte se desarrolla y despliega por separado.</a:t>
            </a:r>
          </a:p>
          <a:p>
            <a:pPr marL="342900" indent="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6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Modelo-Vista-Controlador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datos y conexión con el servidor.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o páginas que ve 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recibe las acciones del usuario, usa el modelo y actualiza la vista.</a:t>
            </a:r>
            <a:endParaRPr sz="1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34429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Tecnologías utilizadas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7CE3A9-631C-3108-485D-C4DDCAAFD5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537425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2983">
                  <a:extLst>
                    <a:ext uri="{9D8B030D-6E8A-4147-A177-3AD203B41FA5}">
                      <a16:colId xmlns:a16="http://schemas.microsoft.com/office/drawing/2014/main" val="1419517757"/>
                    </a:ext>
                  </a:extLst>
                </a:gridCol>
                <a:gridCol w="4105965">
                  <a:extLst>
                    <a:ext uri="{9D8B030D-6E8A-4147-A177-3AD203B41FA5}">
                      <a16:colId xmlns:a16="http://schemas.microsoft.com/office/drawing/2014/main" val="3135125383"/>
                    </a:ext>
                  </a:extLst>
                </a:gridCol>
                <a:gridCol w="2426252">
                  <a:extLst>
                    <a:ext uri="{9D8B030D-6E8A-4147-A177-3AD203B41FA5}">
                      <a16:colId xmlns:a16="http://schemas.microsoft.com/office/drawing/2014/main" val="347516111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Componente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Tecnología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6692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Servidor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ASP.NET Core + SoapCore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.NET 10 · SoapCore 1.2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89578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consola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.NET + cliente WCF generado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.NET 10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0458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escritorio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WinForms + WCF (ChannelFactory)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.NET 10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32553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web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ASP.NET Core MVC + WCF (ChannelFactory)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.NET 10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28497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móvil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fr-FR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.NET MAUI (Android) + cliente WCF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.NET 10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5953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Herramientas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Visual Studio 2026, NuGet, emulador Android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VS 2026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848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8277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Arquitectura del sistema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E0915DF-DE3B-6CF6-FC49-8F657C0D4DAD}"/>
              </a:ext>
            </a:extLst>
          </p:cNvPr>
          <p:cNvSpPr/>
          <p:nvPr/>
        </p:nvSpPr>
        <p:spPr>
          <a:xfrm>
            <a:off x="3683000" y="3696042"/>
            <a:ext cx="2159000" cy="1168400"/>
          </a:xfrm>
          <a:prstGeom prst="roundRect">
            <a:avLst>
              <a:gd name="adj" fmla="val 12000"/>
            </a:avLst>
          </a:prstGeom>
          <a:solidFill>
            <a:srgbClr val="1A326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s-EC" b="1">
                <a:solidFill>
                  <a:srgbClr val="FFFFFF"/>
                </a:solidFill>
                <a:latin typeface="Gill Sans" panose="020B0604020202020204" charset="0"/>
              </a:rPr>
              <a:t>Servidor SOAP</a:t>
            </a:r>
          </a:p>
          <a:p>
            <a:pPr algn="ctr"/>
            <a:r>
              <a:rPr lang="es-EC" sz="1100">
                <a:solidFill>
                  <a:srgbClr val="D6E2F0"/>
                </a:solidFill>
                <a:latin typeface="Cambria" panose="02040503050406030204" pitchFamily="18" charset="0"/>
              </a:rPr>
              <a:t>.NET · localhost:5052</a:t>
            </a:r>
          </a:p>
          <a:p>
            <a:pPr algn="ctr"/>
            <a:r>
              <a:rPr lang="es-EC" sz="1100">
                <a:solidFill>
                  <a:srgbClr val="D6E2F0"/>
                </a:solidFill>
                <a:latin typeface="Cambria" panose="02040503050406030204" pitchFamily="18" charset="0"/>
              </a:rPr>
              <a:t>login · catálogo · conversión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EABEA3E-1F0C-FA99-5FB9-A5DE0A84EC0A}"/>
              </a:ext>
            </a:extLst>
          </p:cNvPr>
          <p:cNvSpPr/>
          <p:nvPr/>
        </p:nvSpPr>
        <p:spPr>
          <a:xfrm>
            <a:off x="711200" y="28324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consola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.NET (consola)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C03EB9-A480-9BB3-85E9-79A4DEEF10D4}"/>
              </a:ext>
            </a:extLst>
          </p:cNvPr>
          <p:cNvCxnSpPr/>
          <p:nvPr/>
        </p:nvCxnSpPr>
        <p:spPr>
          <a:xfrm>
            <a:off x="2794000" y="3188042"/>
            <a:ext cx="889000" cy="7620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5795BB4-94D7-92DA-8A53-5350774EC9A8}"/>
              </a:ext>
            </a:extLst>
          </p:cNvPr>
          <p:cNvSpPr/>
          <p:nvPr/>
        </p:nvSpPr>
        <p:spPr>
          <a:xfrm>
            <a:off x="6731000" y="28324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web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ASP.NET Core MVC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60B08F9-3C33-8C80-31E0-5D3624E1BDE3}"/>
              </a:ext>
            </a:extLst>
          </p:cNvPr>
          <p:cNvCxnSpPr/>
          <p:nvPr/>
        </p:nvCxnSpPr>
        <p:spPr>
          <a:xfrm flipH="1">
            <a:off x="5842000" y="3188042"/>
            <a:ext cx="889000" cy="7620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559FD9-3130-BD11-D536-5B3F7FA7D911}"/>
              </a:ext>
            </a:extLst>
          </p:cNvPr>
          <p:cNvSpPr/>
          <p:nvPr/>
        </p:nvSpPr>
        <p:spPr>
          <a:xfrm>
            <a:off x="711200" y="49660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escritorio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WinForms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374E97-617D-6073-4164-2D061B3AC7B7}"/>
              </a:ext>
            </a:extLst>
          </p:cNvPr>
          <p:cNvCxnSpPr/>
          <p:nvPr/>
        </p:nvCxnSpPr>
        <p:spPr>
          <a:xfrm flipV="1">
            <a:off x="2794000" y="4610442"/>
            <a:ext cx="889000" cy="7112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A1992A0-9E73-2443-C1F2-A9F4A61FE395}"/>
              </a:ext>
            </a:extLst>
          </p:cNvPr>
          <p:cNvSpPr/>
          <p:nvPr/>
        </p:nvSpPr>
        <p:spPr>
          <a:xfrm>
            <a:off x="6731000" y="49660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móvil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.NET MAUI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761FD4F-2B2A-BD1A-7C66-FEF877B0834B}"/>
              </a:ext>
            </a:extLst>
          </p:cNvPr>
          <p:cNvCxnSpPr/>
          <p:nvPr/>
        </p:nvCxnSpPr>
        <p:spPr>
          <a:xfrm flipH="1" flipV="1">
            <a:off x="5842000" y="4610442"/>
            <a:ext cx="889000" cy="7112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C7566D7-3EAD-9712-B089-A6C726107951}"/>
              </a:ext>
            </a:extLst>
          </p:cNvPr>
          <p:cNvSpPr txBox="1"/>
          <p:nvPr/>
        </p:nvSpPr>
        <p:spPr>
          <a:xfrm>
            <a:off x="584200" y="588044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</a:rPr>
              <a:t>Comunicación: mensajes SOAP en XML · autenticación por token en cada llamada</a:t>
            </a:r>
            <a:endParaRPr lang="es-EC" sz="1200" i="1">
              <a:solidFill>
                <a:srgbClr val="6B7280"/>
              </a:solidFill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4768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SERVIDOR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+ SoapCore · http://localhost:5052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ASP.NET Core Web API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WS_CON_UNI_DOTNET_SOAP (también es su espacio de nombres).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Kestrel en http://localhost:5052 (launchSettings.json).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SoapCore 1.2.1.16.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3930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 web SOAP (LoginWebService, CatalogWebService y ConverterWebService):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436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822999C-BCB5-FA7F-D928-35F19A83B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686575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1406091940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804850320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1979091512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301281235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901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62553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55118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10894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C953B56-F15A-6DE3-6099-498169503304}"/>
              </a:ext>
            </a:extLst>
          </p:cNvPr>
          <p:cNvSpPr txBox="1"/>
          <p:nvPr/>
        </p:nvSpPr>
        <p:spPr>
          <a:xfrm>
            <a:off x="584200" y="4417402"/>
            <a:ext cx="8585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/LoginWebService.svc  ·  catálogo → /CatalogWebService.svc  ·  conversión → /ConverterWebService.svc</a:t>
            </a:r>
          </a:p>
        </p:txBody>
      </p:sp>
    </p:spTree>
    <p:extLst>
      <p:ext uri="{BB962C8B-B14F-4D97-AF65-F5344CB8AC3E}">
        <p14:creationId xmlns:p14="http://schemas.microsoft.com/office/powerpoint/2010/main" val="1690782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AAD0A6-1045-4471-D5C0-F10C0D7CE8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102710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3266884142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112576780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8612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399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23667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14157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306947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8838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265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3743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[ServiceContract] y [OperationContract] definen el contrato; SoapCore lo publica como endpoint .svc con su WSDL.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registra tres servicios (Login, Catalog y Converter) y cada uno valida el token antes de responder.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6572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ConverterResponseDTO Convert(string token,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value, string from, string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Program.cs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builder.Services.AddSoapCore();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builder.Services.AddSingleton&lt;IConverterWebService,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ConverterWebService&gt;();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app.UseEndpoints(endpoints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_ = endpoints.UseSoapEndpoint&lt;IConverterWebService&gt;(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"/ConverterWebService.svc",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SoapEncoderOptions(), SoapSerializer.XmlSerializer);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8994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1.3.6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Visual Studio 2026 o con dotnet run.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WSDL en http://localhost:5052/LoginWebService.svc?wsdl.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6642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CONSOLA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10 + cliente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7049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LoginWebServiceClient es el cliente WCF generado desde el WSDL del servidor.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llamada es asíncrona (async/await) y devuelve el DTO con estado, mensaje y token.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0606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internal class LoginHTTP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LoginWebServiceClient _client;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LoginHTTP()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_client = new LoginWebServiceClient();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Task&lt;LoginResponseDTO?&gt; LoginAsync(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var response = await _client.LoginAsync(username,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2822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B46213-429F-B608-632F-F9EE0C2464BB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F24831A3-148E-F234-87FC-B7C92AC699A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A20512-C17E-9BE6-F1B7-A95A1F3100AB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305D5504-C8D4-064F-0C33-FCB945D4FF0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54EE60-948A-66BA-9234-EA4BA6BBE9F9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7ED1345-A02E-C4C7-811F-C097B2630B19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329560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ESCRITORIO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WinForms +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1021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 un canal WCF (ChannelFactory) por cada servicio .svc con BasicHttpBinding, el enlace SOAP básico.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Los tiempos de espera (5 s y 15 s) evitan esperas sin fin si el servidor no responde.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84624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binding = new BasicHttpBinding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OpenTimeout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SendTimeout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ReceiveTimeout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MaxReceivedMessageSize = int.MaxValue,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CanalLogin(new ChannelFactory&lt;ILoginWebService&gt;(binding,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"/LoginWebService.svc"))),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CanalCatalogo(new ChannelFactory&lt;ICatalogWebService&gt;(binding,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"/CatalogWebService.svc"))),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CanalConversor(new ChannelFactory&lt;IConverterWebService&gt;(binding,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"/ConverterWebService.svc"))),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9192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633829-1DD7-C254-3C14-C8FDDB1C9FD9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41593887-94B7-BDDF-2569-60CB9E6D4DD2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5A4C0C-24A8-7899-C043-0E4D4C60189D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D71AAD67-5FE8-7F05-AC62-94901837385A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EB62AD-895B-21FF-1500-4DCDD5287956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B32E82B-2DB1-B4CF-89EF-90DEA885BB51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3307768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WEB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MVC +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06362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controlador MVC recibe el formulario y llama al servidor SOAP a través de FabricaServicios (canales WCF).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login falla, vuelve a mostrar la vista con el mensaje; si funciona, guarda la sesión y va al menú.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25210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async Task&lt;IActionResult&gt; Ingresar(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... validación de campos vacíos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6107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D5A7E5-0310-2F4A-184B-2144A2F83252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C15036A6-AD4F-5E49-F456-3CED965BAAD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6EE0A-92F3-BA3F-8DCE-CE89FF31A27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0D78918E-297E-A27E-32E7-034D2D5C1703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792AB8-73E1-ACAE-A962-4D72E43DA3D9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6B4729B-7F8F-CF81-8FF1-B7FEC9645281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42409422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MAUI (Android)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20439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app MAUI usa el cliente WCF generado y apunta a la IP de la PC en la red (SoapConfig.BaseUrl).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no hay conexión o se agota el tiempo, cierra el canal y muestra "No se pudo conectar con el servidor".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67136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client = new SoapLogin.LoginWebServiceClient(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SoapLogin.LoginWebServiceClient.EndpointConfiguration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.BasicHttpBinding_ILoginWebService_soap,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SoapConfig.BaseUrl + "/LoginWebService.svc");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response = await 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await client.CloseAsync();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dto =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LoginResult(dto.estado == SoapLogin.EstadosEnum.OK,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dto.mensaje ?? "", dto.token);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catch (Exception ex) when (ex is CommunicationException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or TimeoutException)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client.Abort();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LoginResult(false,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"No se pudo conectar con el servidor",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0017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F6C813-06A0-4F01-9E4C-0E0CF05C8C2D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01C539FB-AE0B-4B8B-7DD5-AD233E4C27ED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58125-3C13-AD78-9C76-DAAAEE05474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E316B965-A3B3-826D-0C8E-D7022F28216D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8385C9-7B7A-28BE-CF9F-7520B7660FAF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FCCE65EA-592C-0033-83B1-A47C72625870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41352121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1151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1.8	PRUEBAS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6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Casos verificados contra el servidor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1.8.1	Casos de prueba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D66A9AF-5527-DB66-AA9C-9FE655BF2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749270"/>
              </p:ext>
            </p:extLst>
          </p:nvPr>
        </p:nvGraphicFramePr>
        <p:xfrm>
          <a:off x="584200" y="3285260"/>
          <a:ext cx="8585200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8660">
                  <a:extLst>
                    <a:ext uri="{9D8B030D-6E8A-4147-A177-3AD203B41FA5}">
                      <a16:colId xmlns:a16="http://schemas.microsoft.com/office/drawing/2014/main" val="1198876132"/>
                    </a:ext>
                  </a:extLst>
                </a:gridCol>
                <a:gridCol w="2005302">
                  <a:extLst>
                    <a:ext uri="{9D8B030D-6E8A-4147-A177-3AD203B41FA5}">
                      <a16:colId xmlns:a16="http://schemas.microsoft.com/office/drawing/2014/main" val="4254887175"/>
                    </a:ext>
                  </a:extLst>
                </a:gridCol>
                <a:gridCol w="2005302">
                  <a:extLst>
                    <a:ext uri="{9D8B030D-6E8A-4147-A177-3AD203B41FA5}">
                      <a16:colId xmlns:a16="http://schemas.microsoft.com/office/drawing/2014/main" val="1850903878"/>
                    </a:ext>
                  </a:extLst>
                </a:gridCol>
                <a:gridCol w="3007953">
                  <a:extLst>
                    <a:ext uri="{9D8B030D-6E8A-4147-A177-3AD203B41FA5}">
                      <a16:colId xmlns:a16="http://schemas.microsoft.com/office/drawing/2014/main" val="3971604077"/>
                    </a:ext>
                  </a:extLst>
                </a:gridCol>
                <a:gridCol w="1127983">
                  <a:extLst>
                    <a:ext uri="{9D8B030D-6E8A-4147-A177-3AD203B41FA5}">
                      <a16:colId xmlns:a16="http://schemas.microsoft.com/office/drawing/2014/main" val="112518909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#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Caso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Resultado esperado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¿Cumple?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964838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 correcto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user / 1234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Ingresa al menú principal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83812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2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 incorrecto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user / clave errónea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Credenciales Incorrectas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71887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3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 mi → m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1609,344 m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9807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4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100 °C → °F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212 °F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268682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5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 kg → lb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2,2046 lb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3855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6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 gal → 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3,7854 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4128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7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Valor no numérico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abc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Mensaje de validación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7485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8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Servidor apagado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cualquier acción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No se pudo conectar con el servidor</a:t>
                      </a:r>
                      <a:endParaRPr lang="es-EC" sz="11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579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6223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1.8.2	Evidencia de pruebas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107 pruebas automáticas: escritorio (59) y web (48).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Herramienta usada: xUnit.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se probó además con SoapUI (DOTNET-Server-soapui-project.xml).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4521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SOAP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SoapCore permitió publicar servicios SOAP con su contrato WSDL sobre ASP.NET Core, sin depender de WCF en el servidor.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43803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y WS-Security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Regenerar las referencias de servicio de los clientes cada vez que cambie el contrato WSDL del servidor.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40761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REFERENCIAS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Fielding, R. T. (2000). Architectural styles and the design of network-based software architectures [Tesis doctoral]. University of California, Irvine.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Fowler, M. (2002). Patterns of enterprise application architecture. Addison-Wesley.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W3C. (2007). SOAP version 1.2 part 1: Messaging framework (2.ª ed.). https://www.w3.org/TR/soap12-part1/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SoapCore. (2026). SOAP extension for ASP.NET Core. https://github.com/DigDes/SoapCore</a:t>
            </a:r>
            <a:endParaRPr sz="15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00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3133696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3310</Words>
  <Application>Microsoft Office PowerPoint</Application>
  <PresentationFormat>Widescreen</PresentationFormat>
  <Paragraphs>723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Noto Sans Symbols</vt:lpstr>
      <vt:lpstr>Cambria</vt:lpstr>
      <vt:lpstr>Dividendo</vt:lpstr>
      <vt:lpstr>MANUAL CONVERSIÓN UNIDADES SOAP .NET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1</cp:revision>
  <dcterms:modified xsi:type="dcterms:W3CDTF">2026-10-27T13:49:19Z</dcterms:modified>
</cp:coreProperties>
</file>