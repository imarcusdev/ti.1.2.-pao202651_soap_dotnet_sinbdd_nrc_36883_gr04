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1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90" r:id="rId10"/>
    <p:sldId id="391" r:id="rId11"/>
    <p:sldId id="392" r:id="rId12"/>
    <p:sldId id="393" r:id="rId13"/>
    <p:sldId id="394" r:id="rId14"/>
    <p:sldId id="395" r:id="rId15"/>
    <p:sldId id="396" r:id="rId16"/>
    <p:sldId id="397" r:id="rId17"/>
    <p:sldId id="398" r:id="rId18"/>
    <p:sldId id="399" r:id="rId19"/>
    <p:sldId id="400" r:id="rId20"/>
    <p:sldId id="401" r:id="rId21"/>
    <p:sldId id="402" r:id="rId22"/>
    <p:sldId id="403" r:id="rId23"/>
    <p:sldId id="404" r:id="rId24"/>
    <p:sldId id="405" r:id="rId25"/>
    <p:sldId id="406" r:id="rId26"/>
    <p:sldId id="407" r:id="rId27"/>
    <p:sldId id="408" r:id="rId28"/>
    <p:sldId id="409" r:id="rId29"/>
    <p:sldId id="410" r:id="rId30"/>
    <p:sldId id="411" r:id="rId31"/>
    <p:sldId id="412" r:id="rId32"/>
    <p:sldId id="413" r:id="rId33"/>
    <p:sldId id="414" r:id="rId34"/>
    <p:sldId id="342" r:id="rId35"/>
    <p:sldId id="343" r:id="rId36"/>
    <p:sldId id="344" r:id="rId37"/>
    <p:sldId id="387" r:id="rId38"/>
    <p:sldId id="388" r:id="rId39"/>
    <p:sldId id="389" r:id="rId40"/>
    <p:sldId id="345" r:id="rId41"/>
    <p:sldId id="346" r:id="rId42"/>
    <p:sldId id="347" r:id="rId43"/>
    <p:sldId id="378" r:id="rId44"/>
    <p:sldId id="379" r:id="rId45"/>
    <p:sldId id="380" r:id="rId46"/>
    <p:sldId id="381" r:id="rId47"/>
    <p:sldId id="382" r:id="rId48"/>
    <p:sldId id="383" r:id="rId49"/>
    <p:sldId id="384" r:id="rId50"/>
    <p:sldId id="385" r:id="rId51"/>
    <p:sldId id="386" r:id="rId52"/>
    <p:sldId id="348" r:id="rId53"/>
    <p:sldId id="349" r:id="rId54"/>
    <p:sldId id="350" r:id="rId55"/>
    <p:sldId id="369" r:id="rId56"/>
    <p:sldId id="370" r:id="rId57"/>
    <p:sldId id="371" r:id="rId58"/>
    <p:sldId id="372" r:id="rId59"/>
    <p:sldId id="373" r:id="rId60"/>
    <p:sldId id="374" r:id="rId61"/>
    <p:sldId id="375" r:id="rId62"/>
    <p:sldId id="376" r:id="rId63"/>
    <p:sldId id="377" r:id="rId64"/>
    <p:sldId id="351" r:id="rId65"/>
    <p:sldId id="352" r:id="rId66"/>
    <p:sldId id="353" r:id="rId67"/>
    <p:sldId id="359" r:id="rId68"/>
    <p:sldId id="360" r:id="rId69"/>
    <p:sldId id="361" r:id="rId70"/>
    <p:sldId id="362" r:id="rId71"/>
    <p:sldId id="363" r:id="rId72"/>
    <p:sldId id="364" r:id="rId73"/>
    <p:sldId id="365" r:id="rId74"/>
    <p:sldId id="366" r:id="rId75"/>
    <p:sldId id="367" r:id="rId76"/>
    <p:sldId id="368" r:id="rId77"/>
    <p:sldId id="354" r:id="rId78"/>
    <p:sldId id="357" r:id="rId79"/>
    <p:sldId id="358" r:id="rId80"/>
  </p:sldIdLst>
  <p:sldSz cx="12192000" cy="6858000"/>
  <p:notesSz cx="6858000" cy="9144000"/>
  <p:embeddedFontLst>
    <p:embeddedFont>
      <p:font typeface="Cambria" panose="02040503050406030204" pitchFamily="18" charset="0"/>
      <p:regular r:id="rId82"/>
      <p:bold r:id="rId83"/>
      <p:italic r:id="rId84"/>
      <p:boldItalic r:id="rId85"/>
    </p:embeddedFont>
    <p:embeddedFont>
      <p:font typeface="Gill Sans" panose="020B0604020202020204" charset="0"/>
      <p:regular r:id="rId86"/>
      <p:bold r:id="rId8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3.fntdata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2.fntdata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6.fntdata"/><Relationship Id="rId61" Type="http://schemas.openxmlformats.org/officeDocument/2006/relationships/slide" Target="slides/slide60.xml"/><Relationship Id="rId82" Type="http://schemas.openxmlformats.org/officeDocument/2006/relationships/font" Target="fonts/font1.fntdata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SOAP .NET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00196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 dirty="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</a:t>
            </a: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DEL SERVIDOR SOAP EN .NET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  <a:endParaRPr lang="es-MX" sz="1700" dirty="0">
              <a:solidFill>
                <a:srgbClr val="FFFFFF"/>
              </a:solidFill>
              <a:latin typeface="Gill Sans" panose="020B0604020202020204" charset="0"/>
            </a:endParaRP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 dirty="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 dirty="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2850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SOAP en .NET,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SOAP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7256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+ SoapCore · http://localhost:5052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ASP.NET Core Web API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WS_CON_UNI_DOTNET_SOAP (también es su espacio de nombres).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Kestrel en http://localhost:5052 (launchSettings.json).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SoapCore 1.2.1.16.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93930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 web SOAP (LoginWebService, CatalogWebService y ConverterWebService):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436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822999C-BCB5-FA7F-D928-35F19A83B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686575"/>
              </p:ext>
            </p:extLst>
          </p:nvPr>
        </p:nvGraphicFramePr>
        <p:xfrm>
          <a:off x="584200" y="2680042"/>
          <a:ext cx="8585200" cy="101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1406091940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804850320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1979091512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301281235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901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62553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55118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10894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C953B56-F15A-6DE3-6099-498169503304}"/>
              </a:ext>
            </a:extLst>
          </p:cNvPr>
          <p:cNvSpPr txBox="1"/>
          <p:nvPr/>
        </p:nvSpPr>
        <p:spPr>
          <a:xfrm>
            <a:off x="584200" y="4417402"/>
            <a:ext cx="8585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/LoginWebService.svc  ·  catálogo → /CatalogWebService.svc  ·  conversión → /ConverterWebService.svc</a:t>
            </a:r>
          </a:p>
        </p:txBody>
      </p:sp>
    </p:spTree>
    <p:extLst>
      <p:ext uri="{BB962C8B-B14F-4D97-AF65-F5344CB8AC3E}">
        <p14:creationId xmlns:p14="http://schemas.microsoft.com/office/powerpoint/2010/main" val="1690782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AAD0A6-1045-4471-D5C0-F10C0D7CE8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102710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3266884142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1125767809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8612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3995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23667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14157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306947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8838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265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3743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[ServiceContract] y [OperationContract] definen el contrato; SoapCore lo publica como endpoint .svc con su WSDL.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registra tres servicios (Login, Catalog y Converter) y cada uno valida el token antes de responder.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6572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[ServiceContract]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[OperationContract]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ConverterResponseDTO Convert(string token,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value, string from, string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Program.cs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builder.Services.AddSoapCore();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builder.Services.AddSingleton&lt;IConverterWebService,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ConverterWebService&gt;();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app.UseEndpoints(endpoints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_ = endpoints.UseSoapEndpoint&lt;IConverterWebService&gt;(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"/ConverterWebService.svc",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SoapEncoderOptions(), SoapSerializer.XmlSerializer);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8994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Código fuente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Configuración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5019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builder = WebApplication.CreateBuilder(args);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builder.Services.AddSoapCore();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builder.Services.AddSingleton&lt;ILoginWebService, LoginWebService&gt;();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builder.Services.AddSingleton&lt;ICatalogWebService, CatalogWebService&gt;();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builder.Services.AddSingleton&lt;IConverterWebService, ConverterWebService&gt;();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app = builder.Build();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app.UseRouting();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app.UseEndpoints(endpoints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_ = endpoints.UseSoapEndpoint&lt;ILoginWebService&gt;(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"/LoginWebService.svc",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SoapEncoderOptions(),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SoapSerializer.XmlSerializer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_ = endpoints.UseSoapEndpoint&lt;ICatalogWebService&gt;(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"/CatalogWebService.svc",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SoapEncoderOptions(),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SoapSerializer.XmlSerializer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367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ICatalogWebService.cs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Contrato del servicio web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15914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Program.cs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_ = endpoints.UseSoapEndpoint&lt;IConverterWebService&gt;(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"/ConverterWebService.svc",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SoapEncoderOptions(),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SoapSerializer.XmlSerializer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app.Run();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ICatalogWebService.cs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[ServiceContract]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ICatalogWebService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[OperationContract]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CatalogResponseDTO GetCatalog(string type, string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0663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IConverterWebService.cs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Contrato del servicio web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ILoginWebService.cs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Contrato del servicio web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81437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IConverterWebService.cs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[ServiceContract]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[OperationContract]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ConverterResponseDTO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from,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ILoginWebService.cs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[ServiceContract]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ILoginWebService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[OperationContract]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LoginResponseDTO Login(string username, string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6223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CatalogWebService.cs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 web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WS/Services/CatalogWebService.cs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2793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CatalogWebService : ICatalogWebService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string FormatType(string text)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(string.IsNullOrEmpty(text))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text;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char.ToUpper(text[0]) + text.Substring(1).ToLower();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 GetCatalog(string type,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type = FormatType(type);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"Token Inválido",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HashSet&lt;string&gt;()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2248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CatalogWebService.cs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ConverterWebService.cs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 web SOAP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6535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CatalogWebService.cs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"Obtención de Catálogo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ConverterController.GetConverter(type).GetUnits().ToHashSet()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"Tipo de Catálogo Inexistente",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HashSet&lt;string&gt;()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ConverterWebService :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 Convert(string token, string type, 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1429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ConverterWebService.cs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6127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"Token Inválido",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ConverterController.Convert(type, value, from,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"No se pudo hacer la conversión",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9863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 web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WS/Services/LoginWebService.cs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83507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LoginWebService : ILoginWebService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 Login(string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 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 = LoginController.login(username,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"Ingreso de Sesión Exitoso!",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"Credenciales Incorrectas",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1907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5436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IDataConverter GetConverter(string 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"Area":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AreaModel();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"Longitud":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LongitudModel();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"Masa":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MasaPesoModel();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"Temperatura":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TemperaturaModel();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"Tiempo":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TiempoModel();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"Volumen":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VolumenModel();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throw new Exception("Type Converter not found!");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9475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84833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double Convert(string type, 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IDataConverter converter = ConverterController.GetConverter(type);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converter.Convert(value, from,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login(string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LoginRepository repository = new LoginImplRepository();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repository.ValidateCredentials(username,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validateUser(string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TokenService.ValidateToken(token);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126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TokenService.cs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Services/TokenService.cs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736342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TokenService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HashSet&lt;string&gt; tokensActivos = new HashSet&lt;string&gt;();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GenerateToken()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token = Guid.NewGuid().ToString();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tokensActivos.Add(token);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ValidateToken(string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tokensActivos.Contains(token);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4164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Models/DTO/CatalogResponseDTO.cs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33563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CatalogResponseDTO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HashSet&lt;string&gt; resultado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[];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CatalogResponseDTO(EstadosEnum estado, string mensaje, HashSet&lt;string&gt; resultado)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34360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Models/DTO/ConverterResponseDTO.cs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77950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resultado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ConverterResponseDTO(EstadosEnum estado, String mensaje, double resultado)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6121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Models/DTO/LoginResponseDTO.cs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04602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token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LoginResponseDTO(EstadosEnum estado, string mensaje, string token)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84871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EstadosEnum.cs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Enumeración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295495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ResponseDTO.cs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EstadosEnum estado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mensaje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ResponseDTO(EstadosEnum estado, 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EstadosEnum.cs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WS_CON_UNI_DOTNET_SOAP.Models.Enums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enum EstadosEnum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ERROR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9277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IDataConverter.cs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Models/Interfaces/IDataConverter.cs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09238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Dictionary&lt;string, double&gt;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double Convert(double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map =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valueFrom = map[from];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valueTo = map[to];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value * valueFrom / valueTo;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IEnumerable&lt;string&gt; GetUnits()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ToMap().Keys;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36953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7614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string ValidateCredentials(string username, string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LoginImplRepository.cs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WS_CON_UNI_DOTNET_SOAP.Models.Repositories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LoginImplRepository : 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Dictionary&lt;string, string&gt; users;  // HashMap&lt;username, password&gt;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LoginImplRepository()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 = new Dictionary&lt;string, string&gt;();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Credentials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this.users.Add("user", "1234");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this.users.Add("monster", "monster9");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this.users.Add("marcos", "mamita");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this.users.Add("carlos", "carlos9");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this.users.Add("msosa", "msosa");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8569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1197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ValidateCredentials(string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No DB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localUsername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localPassword = this.users[localUsername];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(!localUsername.Equals(username) || !localPassword.Equals(password))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 new Exception("Invalid User");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TokenService.GenerateToken();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74252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AreaModel.cs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Models/Data/AreaModel.cs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0571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AreaModel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squareCentimeter = 0.0001;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squareKilometer = 1000000;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hectare = 10000;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squareFeet = 0.092903;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acre = 4046.86;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 Dictionary&lt;string, double&gt;();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data.Add("cm2", squareCentimeter);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data.Add("m2", squareMeter);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data.Add("km2", squareKilometer);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data.Add("ha", hectare);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data.Add("ft2", squareFeet);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data.Add("ac", acre);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87165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Models/Data/LongitudModel.cs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02640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LongitudModel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kilometer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hectometer = 100;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decameter = 10;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decimeter = 0.1;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centimeter = 0.01;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millimeter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feet = 0.3048;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yard = 0.9144;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mile = 1609.344;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data.Add("km", 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data.Add("hm", hectometer);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data.Add("Dm", decameter);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data.Add("m", 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data.Add("dm", decimeter);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data.Add("cm", 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data.Add("mm", millimeter);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data.Add("ft", 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data.Add("yd", yard);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data.Add("mi", mile);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27900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MasaPesoModel.cs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70439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LongitudModel.cs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MasaPesoModel.cs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MasaPesoModel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gram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kilogram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ounce = 0.0283495;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pound = 0.453592;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quintal = 100;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data.Add("g", 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data.Add("kg", kilogram);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data.Add("oz", ounce);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data.Add("lb", pound);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data.Add("qq", quintal);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7663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Models/Data/TemperaturaModel.cs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41423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TemperaturaModel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"°C",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"°F",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"K",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"°N",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"°Ré", 1.0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Convert(double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map =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celsius;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54218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26107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(from)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(value - 32) * 5.0 / 9.0;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- 273.15;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* 100.0 / 33.0;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* 5.0 / 4.0;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780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317261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9.0 / 5.0 + 32;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+ 273.15;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33.0 / 100.0;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4.0 / 5.0;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9732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TiempoModel.cs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Models/Data/TiempoModel.cs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62547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TiempoModel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millisecond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second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minute =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hour = 60 *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day = 60 * 60 * 24;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week = 60 * 60 * 24 * 7;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"ms", millisecond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"s", second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"min", minute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"h", hour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"d", day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"w", week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35751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VolumenModel.cs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Models/Data/VolumenModel.cs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819079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VolumenModel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milliliter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liter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cubicMeter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cubicFeet = 28.3168;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galon = 3.78541;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"mL", milliliter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"L", liter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"m3", cubicMeter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"ft3", cubicFeet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"gal", galon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39716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1.2.7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Visual Studio 2026 o con dotnet run.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WSDL en http://localhost:5052/LoginWebService.svc?wsdl.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66428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10 + cliente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70491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LoginWebServiceClient es el cliente WCF generado desde el WSDL del servidor.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llamada es asíncrona (async/await) y devuelve el DTO con estado, mensaje y token.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7D679A-A4BC-3014-84FE-03FEF00D2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0606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3875235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internal class LoginHTTP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LoginWebServiceClient _client;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LoginHTTP()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_client = new LoginWebServiceClient();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Task&lt;LoginResponseDTO?&gt; LoginAsync(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var response = await _client.LoginAsync(username,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1223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28225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LoginHTTP.cs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Models/HTTP/LoginHTTP.cs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7D679A-A4BC-3014-84FE-03FEF00D2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54147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3875235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CONSOLE_CON_UNI_DOTNET_SOAP.Models.HTTP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LoginWebServiceClient _client;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LoginHTTP()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_client = new LoginWebServiceClient();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Task&lt;LoginResponseDTO?&gt; LoginAsync(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username,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response = await _client.LoginAsync(username,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response.Body.LoginResult;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1223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84467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7D679A-A4BC-3014-84FE-03FEF00D2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05402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3875235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LoginResponseDTO? Login(string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LoginHTTP http = new LoginHTTP();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LoginResponseDTO? dto = http.LoginAsync(username, password).Result;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Save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(dto?.estado == EstadosEnum.OK)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ConfigHTTP.token = dto.token;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LoginView.cs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CONSOLE_CON_UNI_DOTNET_SOAP.Views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LoginView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UserHasLogin()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ctrl = new LoginController();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1223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22889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7D679A-A4BC-3014-84FE-03FEF00D2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5429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3875235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Username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MessagesUtils.PrintMessage("Username: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username = Console.ReadLine() ?? string.Empty;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MessagesUtils.PrintMessage("Password: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password = Console.ReadLine() ?? string.Empty;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LoginResponseDTO? res = ctrl.Login(username,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(res is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MessagesUtils.PrintMessage("No se recibió respuesta del servicio.");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MessagesUtils.PrintMessage(res.mensaje ?? string.Empty);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Thread.Sleep(TimeSpan.FromSeconds(3));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res.estado == EstadosEnum.OK;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1223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52502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B46213-429F-B608-632F-F9EE0C2464BB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F24831A3-148E-F234-87FC-B7C92AC699A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A20512-C17E-9BE6-F1B7-A95A1F3100AB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305D5504-C8D4-064F-0C33-FCB945D4FF0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54EE60-948A-66BA-9234-EA4BA6BBE9F9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7ED1345-A02E-C4C7-811F-C097B2630B19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3295609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WinForms +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91021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 un canal WCF (ChannelFactory) por cada servicio .svc con BasicHttpBinding, el enlace SOAP básico.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Los tiempos de espera (5 s y 15 s) evitan esperas sin fin si el servidor no responde.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84624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binding = new BasicHttpBinding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OpenTimeout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SendTimeout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ReceiveTimeout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MaxReceivedMessageSize = int.MaxValue,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CanalLogin(new ChannelFactory&lt;ILoginWebService&gt;(binding,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"/LoginWebService.svc"))),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CanalCatalogo(new ChannelFactory&lt;ICatalogWebService&gt;(binding,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"/CatalogWebService.svc"))),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CanalConversor(new ChannelFactory&lt;IConverterWebService&gt;(binding,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"/ConverterWebService.svc"))),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91927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ClienteSoap.cs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ec/edu/monster/modelo/ClienteSoap.cs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605629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ec.edu.monster.modelo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Conecta el modelo con el servidor SOAP real. Las ChannelFactory se crean una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sola vez; cada llamada abre y cierra su propio canal.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static class ClienteSoap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TiempoConexion = TimeSpan.FromSeconds(5);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TiempoPeticion = TimeSpan.FromSeconds(15);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/// &lt;summary&gt;Crea el servicio de la aplicación, ligado a su sesión.&lt;/summary&gt;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ConversorServicio CrearServicio(string urlBase, Sesion 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urlBase = urlBase.TrimEnd('/');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El servidor lo comparten varios clientes y puede trabarse: mejor fallar que esperar sin fin.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binding = new BasicHttpBinding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OpenTimeout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SendTimeout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ReceiveTimeout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CloseTimeout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MaxReceivedMessageSize = int.MaxValue,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31058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ClienteSoap.cs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72543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CanalLogin(new ChannelFactory&lt;ILoginWebService&gt;(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binding, new EndpointAddress(urlBase + "/LoginWebService.svc"))),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CanalCatalogo(new ChannelFactory&lt;ICatalogWebService&gt;(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binding, new EndpointAddress(urlBase + "/CatalogWebService.svc"))),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CanalConversor(new ChannelFactory&lt;IConverterWebService&gt;(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binding, new EndpointAddress(urlBase + "/ConverterWebService.svc"))),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Abre un canal, hace una sola llamada y lo cierra; si falla, lo aborta.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async Task&lt;R&gt; UsarCanalAsync&lt;T, R&gt;(ChannelFactory&lt;T&gt; fabrica, Func&lt;T, Task&lt;R&gt;&gt; llamada)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 canal = fabrica.CreateChannel();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comunicacion = (ICommunicationObject)canal!;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 resultado = await llamada(canal);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comunicacion.Close();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comunicacion.Abort();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65595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ClienteSoap.cs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7507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CanalLogin(ChannelFactory&lt;ILoginWebService&gt; fabrica) : ILoginWebService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Task&lt;LoginResponse&gt; LoginAsync(LoginRequest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c.LoginAsync(request));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CanalCatalogo(ChannelFactory&lt;ICatalogWebService&gt; fabrica) : ICatalogWebService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Task&lt;GetCatalogResponse&gt; GetCatalogAsync(GetCatalogRequest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c.GetCatalogAsync(request));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CanalConversor(ChannelFactory&lt;IConverterWebService&gt; fabrica) :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Task&lt;ConvertResponse&gt; ConvertAsync(ConvertRequest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c.ConvertAsync(request));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88240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LoginControlador.cs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ec/edu/monster/controlador/LoginControlador.cs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78007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Maneja la pantalla de login: valida los datos, pide al modelo iniciar sesión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y le dice a la vista qué mostrar después.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CredencialesVacias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ILoginVista vista;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ConversorServicio servicio;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LoginControlador(ILoginVista vista, ConversorServicio servicio)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this.vista = vista;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this.servicio = servicio;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vista.AlIngresar(IngresarAsync);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 IngresarAsync()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usuario = vista.Usuario;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clave = vista.Clave;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78126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LoginControlador.cs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(1/5)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3146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LoginControlador.cs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(string.IsNullOrWhiteSpace(usuario) || string.IsNullOrWhiteSpace(clave))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vista.MostrarError(CredencialesVacias);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servicio.IniciarSesionAsync(usuario.Trim(),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vista.AbrirMenu();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vista.MostrarError(e.Message);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LoginFrame.cs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Ventana de login. La navegación a la ventana principal se delega en 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callback alAbrirMenu que entrega App.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LoginFrame : Form, ILoginVista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Action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TextBox campoUsuario = Estilos.Entrada();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48922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(2/5)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40254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TextBox campoClave = Estilos.Entrada(clave: 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Button botonIngresar = Estilos.BotonPrimario("Ingresar");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Func&lt;Task&gt; accionIngresar = () =&gt; Task.CompletedTask;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IndicadorEstado Estado { get; }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new("Servicio disponible", "Servicio no disponible");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LoginFrame(Action alAbrirMenu)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this.alAbrirMenu = alAbrirMenu;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SuspendLayout();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AutoScaleDimensions = new SizeF(96F, 96F);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AutoScaleMode = AutoScaleMode.Dpi;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Text = Estilos.TituloVentana;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ClientSize = new Size(640, 460);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MinimumSize = new Size(480, 420);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StartPosition = FormStartPosition.CenterScreen;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BackColor = Estilos.Fondo;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Font = Estilos.Fuente;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Controls.Add(ConstruirContenido());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Controls.Add(Estado);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MainMenuStrip = Estilos.BarraMenu(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Estilos.Menu("Archivo", Estilos.Opcion("Salir", Close)),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Estilos.MenuAyuda(this));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Controls.Add(MainMenuStrip);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66921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(3/5)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2095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AcceptButton = botonIngresar;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botonIngresar.Click += (_, _) =&gt; Ingresar();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Shown += (_, _)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campoUsuario.Focus();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Estado.Iniciar();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ResumeLayout(false);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PerformLayout();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Control ConstruirContenido()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formulario = new TableLayoutPanel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ColumnCount = 1,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Dock = DockStyle.Fill,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Padding = new Padding(50, 30, 50, 0),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BackColor = Estilos.Fondo,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formulario.ColumnStyles.Add(new ColumnStyle(SizeType.Percent, 100));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1364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(4/5)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11818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filaBoton = new FlowLayoutPanel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FlowDirection = FlowDirection.RightToLeft,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Dock = DockStyle.Fill,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AutoSize = true,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Margin = new Padding(0),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filaBoton.Controls.Add(botonIngresar);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formulario.Controls.Add(Estilos.Titulo("Iniciar sesión"));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formulario.Controls.Add(Estilos.Etiqueta("Usuario"));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formulario.Controls.Add(campoUsuario);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formulario.Controls.Add(Estilos.Etiqueta("Contraseña"));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formulario.Controls.Add(campoClave);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formulario.Controls.Add(filaBoton);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formulario;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Ingresar()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Estilos.Ejecutar(accionIngresar, MostrarError, botonIngresar, campoUsuario, campoClave);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Usuario =&gt; campoUsuario.Text;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Clave =&gt; campoClave.Text;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8716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(5/5)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6016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MostrarError(string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MessageBox.Show(this, mensaje, Estilos.TituloVentana, MessageBoxButtons.OK, MessageBoxIcon.Error);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AbrirMenu()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La contraseña no se queda en memoria de una ventana que ya no se usa.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campoClave.Clear();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alAbrirMenu();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AlIngresar(Func&lt;Task&gt; accion)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accionIngresar = accion;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10242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633829-1DD7-C254-3C14-C8FDDB1C9FD9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41593887-94B7-BDDF-2569-60CB9E6D4DD2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5A4C0C-24A8-7899-C043-0E4D4C60189D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D71AAD67-5FE8-7F05-AC62-94901837385A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EB62AD-895B-21FF-1500-4DCDD5287956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B32E82B-2DB1-B4CF-89EF-90DEA885BB51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3307768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MVC +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06362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controlador MVC recibe el formulario y llama al servidor SOAP a través de FabricaServicios (canales WCF).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login falla, vuelve a mostrar la vista con el mensaje; si funciona, guarda la sesión y va al menú.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25210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async Task&lt;IActionResult&gt; Ingresar(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... validación de campos vacíos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6107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FabricaServicios.cs  (1/5)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ec/edu/monster/controlador/FabricaServicios.cs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29251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/// &lt;summary&gt;Crea el servicio de un usuario, ligado a su sesión.&lt;/summary&gt;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ConversorServicio CrearServicio(Sesion sesion);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/// &lt;summary&gt;True cuando el servidor responde su WSDL en este momento.&lt;/summary&gt;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Task&lt;bool&gt; DisponibleAsync();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Fábrica única de la aplicación. Las ChannelFactory son costosas, así que 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crean una sola vez; cada llamada abre y cierra su propio canal.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FabricaServicios : IFabricaServicios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TiempoConexion = TimeSpan.FromSeconds(5);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TiempoPeticion = TimeSpan.FromSeconds(15);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TiempoDisponible = TimeSpan.FromSeconds(2);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ChannelFactory&lt;ILoginWebService&gt; login;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ChannelFactory&lt;ICatalogWebService&gt; catalogo;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ChannelFactory&lt;IConverterWebService&gt; conversor;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Uri wsdl;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HttpClient http = new() { Timeout = TiempoDisponible };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34215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FabricaServicios.cs  (2/5)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855488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FabricaServicios(string urlBase)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urlBase = urlBase.TrimEnd('/');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El servidor lo comparten varios clientes y puede trabarse: mejor fallar que esperar sin fin.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binding = new BasicHttpBinding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OpenTimeout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SendTimeout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ReceiveTimeout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CloseTimeout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MaxReceivedMessageSize = int.MaxValue,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 = new ChannelFactory&lt;ILoginWebService&gt;(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binding, new EndpointAddress(urlBase + "/LoginWebService.svc"));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catalogo = new ChannelFactory&lt;ICatalogWebService&gt;(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binding, new EndpointAddress(urlBase + "/CatalogWebService.svc"));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conversor = new ChannelFactory&lt;IConverterWebService&gt;(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binding, new EndpointAddress(urlBase + "/ConverterWebService.svc"));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wsdl = new Uri(urlBase + "/LoginWebService.svc?wsdl");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14453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FabricaServicios.cs  (3/5)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789283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ConversorServicio CrearServicio(Sesion 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CanalLogin(login),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CanalCatalogo(catalogo),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CanalConversor(conversor),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Task&lt;bool&gt; DisponibleAsync()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Se pregunta cada vez: el servidor puede caerse en cualquier momento.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var respuesta = await http.GetAsync(wsdl, HttpCompletionOption.ResponseHeadersRead);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respuesta.IsSuccessStatusCode;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(HttpRequestException)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(TaskCanceledException)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57195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FabricaServicios.cs  (4/5)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75649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Abre un canal, hace una sola llamada y lo cierra; si falla, lo aborta.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async Task&lt;R&gt; UsarCanalAsync&lt;T, R&gt;(ChannelFactory&lt;T&gt; fabrica, Func&lt;T, Task&lt;R&gt;&gt; llamada)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 canal = fabrica.CreateChannel();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comunicacion = (ICommunicationObject)canal!;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 resultado = await llamada(canal);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comunicacion.Close();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comunicacion.Abort();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CanalLogin(ChannelFactory&lt;ILoginWebService&gt; fabrica) : ILoginWebService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Task&lt;LoginResponse&gt; LoginAsync(LoginRequest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c.LoginAsync(request));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51183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FabricaServicios.cs  (5/5)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51499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FabricaServicios.cs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CanalCatalogo(ChannelFactory&lt;ICatalogWebService&gt; fabrica) : ICatalogWebService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Task&lt;GetCatalogResponse&gt; GetCatalogAsync(GetCatalogRequest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c.GetCatalogAsync(request));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CanalConversor(ChannelFactory&lt;IConverterWebService&gt; fabrica) :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Task&lt;ConvertResponse&gt; ConvertAsync(ConvertRequest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c.ConvertAsync(request));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Página de login: valida los datos, pide al modelo iniciar sesión y, si todo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sale bien, guarda la sesión del usuario.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LoginController(IFabricaServicios fabrica) : 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CredencialesVacias = "Ingrese usuario y contraseña";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59275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78439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[HttpGet("/")]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IActionResult Inicio()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Redirect("~/login");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Task&lt;IActionResult&gt; Mostrar()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(SesionUsuario.Activa(HttpContext))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VistaAsync(new LoginVista());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Task&lt;IActionResult&gt; Ingresar(string?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La contraseña nunca se devuelve a la página.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(string.IsNullOrWhiteSpace(usuario) || string.IsNullOrWhiteSpace(clave))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CredencialesVacias;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91694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7688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SesionUsuario.Cerrar(HttpContext);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Task&lt;IActionResult&gt; VistaAsync(LoginVista vista)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ViewData["ServicioDisponible"] = await fabrica.DisponibleAsync();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View("login", 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53946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login.cshtml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ec/edu/monster/vista/login.cshtml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35413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@model LoginVista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ViewData["Titulo"] = "Iniciar sesión";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&lt;main class="contenido-centrado"&gt;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&lt;section class="tarjeta tarjeta-login"&gt;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&lt;h1&gt;Iniciar sesión&lt;/h1&gt;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method="post" action="~/login" asp-antiforgery="true" novalidate&gt;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for="usuario"&gt;Usuario&lt;/label&gt;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type="text" id="usuario" name="usuario" value="@Model.Usuario"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autocomplete="username" autofocus&gt;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for="clave"&gt;Contraseña&lt;/label&gt;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type="password" id="clave" name="clave" autocomplete="current-password"&gt;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class="boton"&gt;Ingresar&lt;/button&gt;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&lt;/section&gt;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&lt;/main&gt;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@if (!string.IsNullOrEmpty(Model.Error))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&lt;dialog id="dialogo-error" class="dialogo" open&gt;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&lt;h2&gt;Error de autenticación&lt;/h2&gt;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&lt;p&gt;@Model.Error&lt;/p&gt;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method="dialog"&gt;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class="boton"&gt;Aceptar&lt;/button&gt;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&lt;/dialog&gt;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Se reabre como modal para oscurecer la página de fondo, como en el mockup.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(function 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var dialogo = document.getElementById('dialogo-error');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3193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login.cshtml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02036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(dialogo &amp;&amp; dialogo.showModal)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dialogo.showModal();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030379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D5A7E5-0310-2F4A-184B-2144A2F83252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C15036A6-AD4F-5E49-F456-3CED965BAAD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6EE0A-92F3-BA3F-8DCE-CE89FF31A27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0D78918E-297E-A27E-32E7-034D2D5C1703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792AB8-73E1-ACAE-A962-4D72E43DA3D9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6B4729B-7F8F-CF81-8FF1-B7FEC9645281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42409422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MAUI (Android)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204398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app MAUI usa el cliente WCF generado y apunta a la IP de la PC en la red (SoapConfig.BaseUrl).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no hay conexión o se agota el tiempo, cierra el canal y muestra "No se pudo conectar con el servidor".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67136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client = new SoapLogin.LoginWebServiceClient(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SoapLogin.LoginWebServiceClient.EndpointConfiguration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.BasicHttpBinding_ILoginWebService_soap,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SoapConfig.BaseUrl + "/LoginWebService.svc");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response = await 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await client.CloseAsync();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dto = response.Body.LoginResult;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LoginResult(dto.estado == SoapLogin.EstadosEnum.OK,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dto.mensaje ?? "", dto.token);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catch (Exception ex) when (ex is CommunicationException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or TimeoutException)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client.Abort();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LoginResult(false,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"No se pudo conectar con el servidor",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0017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MOV_CON_UNI_DOTNET_SOAP/Models/Repositories/LoginRepository.cs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782935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MOV_CON_UNI_DOTNET_SOAP.Models.Repositories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LoginRepository : ILoginRepository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async Task&lt;LoginResult&gt; LoginAsync(string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(SoapErrores.SinRed())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SoapErrores.SinConexion,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SoapLogin.LoginWebServiceClient? client = null;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client = new SoapLogin.LoginWebServiceClient(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SoapLogin.LoginWebServiceClient.EndpointConfiguration.BasicHttpBinding_ILoginWebService_soap,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SoapConfig.BaseUrl + "LoginWebService.svc"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SoapLogin.LoginResponse response = await 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await client.CloseAsync();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SoapLogin.LoginResponseDTO? dto = response?.Body?.LoginResult;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(dto ==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SoapErrores.RespuestaIncompleta,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(dto.estado != SoapLogin.EstadosEnum.OK)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SoapErrores.MensajeServidor(dto.mensaje, "Usuario o contraseña incorrectos"), null);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81211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1706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(string.IsNullOrWhiteSpace(dto.token))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SoapErrores.RespuestaIncompleta,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Success: true,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Message: dto.mensaje ?? "",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Token: dto.token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catch (Exception ex)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client?.Abort();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SoapErrores.Mensaje(ex),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MOV_CON_UNI_DOTNET_SOAP.Controllers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LoginController(ILoginRepository loginRepository, SessionService session) : ControladorConSesion(session)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const int MaxUsuario = 50;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const int MaxPassword = 64;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readonly ILoginRepository _loginRepository = loginRepository;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627707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172729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async Task&lt;LoginResult&gt; LoginAsync(string? username, string?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usuario = username?.Trim()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clave = password?.Trim() ?? "";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(usuario.Length == 0)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"Ingrese el usuario",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(clave.Length == 0)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"Ingrese la contraseña",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(usuario.Length &gt; MaxUsuario)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$"El usuario no puede superar {MaxUsuario} caracteres",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(clave.Length &gt; MaxPassword)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$"La contraseña no puede superar {MaxPassword} caracteres",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LoginResult resultado = await _loginRepository.LoginAsync(usuario, clave);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(resultado.Success &amp;&amp; resultado.Token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Session.Iniciar(usuario, resultado.Token);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2966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MOV_CON_UNI_DOTNET_SOAP/Views/LoginPage.xaml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5294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&lt;?xml version="1.0" encoding="utf-8" ?&gt;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&lt;ContentPage xmlns="http://schemas.microsoft.com/dotnet/2021/maui"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xmlns:x="http://schemas.microsoft.com/winfx/2009/xaml"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xmlns:controllers="clr-namespace:MOV_CON_UNI_DOTNET_SOAP.Controllers"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x:Class="MOV_CON_UNI_DOTNET_SOAP.Views.LoginPage"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Title="Conversión de Unidades Monster"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BackgroundColor="{StaticResource FondoApp}"&gt;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&lt;ContentPage.Resources&gt;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&lt;Style x:Key="CampoLabel" TargetType="Label"&gt;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Property="FontSize" Value="16"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Property="TextColor" Value="{StaticResource TextoOscuro}"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Property="Margin" Value="0,0,0,8"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&lt;/Style&gt;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&lt;Style x:Key="CampoBorde" TargetType="Border"&gt;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Property="Stroke" Value="{StaticResource BordeCampo}"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Property="StrokeThickness" Value="1"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Property="StrokeShape" Value="RoundRectangle 8"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Property="BackgroundColor" Value="White"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Property="Padding" Value="12,0"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Property="HeightRequest" Value="56"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&lt;/Style&gt;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316637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10436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&lt;Style x:Key="CampoEntry" TargetType="Entry"&gt;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Property="FontSize" Value="16"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Property="TextColor" Value="{StaticResource TextoOscuro}"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Property="BackgroundColor" Value="Transparent"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Property="VerticalOptions" Value="Center"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&lt;/Style&gt;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&lt;/ContentPage.Resources&gt;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&lt;Grid Padding="24"&gt;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&lt;Border BackgroundColor="White"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Stroke="{StaticResource BordeTarjeta}"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StrokeThickness="1"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StrokeShape="RoundRectangle 16"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Padding="28,32"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VerticalOptions="Center"&gt;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&lt;VerticalStackLayout&gt;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&lt;Label Text="Iniciar sesión"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FontSize="32"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TextColor="{StaticResource MonsterPrimary}"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Margin="0,0,0,28" /&gt;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384737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96429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&lt;Label Text="Usuario" Style="{StaticResource CampoLabel}"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&lt;Border Style="{StaticResource CampoBorde}" Margin="0,0,0,20"&gt;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&lt;Entry x:Name="UsernameEntry"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Style="{StaticResource CampoEntry}"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MaxLength="{x:Static controllers:LoginController.MaxUsuario}"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IsSpellCheckEnabled="False"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IsTextPredictionEnabled="False"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ReturnType="Next"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Completed="OnUsuarioCompleted"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&lt;/Border&gt;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&lt;Label Text="Contraseña" Style="{StaticResource CampoLabel}"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&lt;Border Style="{StaticResource CampoBorde}"&gt;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&lt;Entry x:Name="PasswordEntry"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IsPassword="True"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Style="{StaticResource CampoEntry}"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MaxLength="{x:Static controllers:LoginController.MaxPassword}"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ReturnType="Go"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Completed="OnIngresarClicked"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&lt;/Border&gt;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&lt;Label x:Name="ErrorLabel"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TextColor="{StaticResource TextoError}"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FontSize="14"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IsVisible="False"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Margin="0,12,0,0" /&gt;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908676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55462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&lt;!-- ===== LoginPage.xaml ===== --&gt;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&lt;Button x:Name="IngresarButton"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Text="Ingresar"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Clicked="OnIngresarClicked"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BackgroundColor="{StaticResource MonsterPrimary}"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TextColor="White"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FontSize="18"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CornerRadius="8"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HeightRequest="56"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Margin="0,28,0,0" /&gt;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&lt;ActivityIndicator x:Name="CargandoIndicator"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      Color="{StaticResource MonsterPrimary}"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      IsRunning="False"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      IsVisible="False"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      Margin="0,16,0,0" /&gt;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&lt;/VerticalStackLayout&gt;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&lt;/Border&gt;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&lt;/Grid&gt;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&lt;/ContentPage&gt;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LoginPage.xaml.cs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MOV_CON_UNI_DOTNET_SOAP.Views;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partial class LoginPage : ContentPage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LoginController _controller;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77305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65897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LoginPage(LoginController controller)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InitializeComponent();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_controller = controller;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OnUsuarioCompleted(object? sender, EventArgs e) =&gt; PasswordEntry.Focus();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void OnIngresarClicked(object? sender, EventArgs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(!IngresarButton.IsEnabled)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MostrarCargando(true);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ErrorLabel.IsVisible = false;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var resultado = await _controller.LoginAsync(UsernameEntry.Text, PasswordEntry.Text);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359236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92278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(resultado.Success)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PasswordEntry.Text = string.Empty;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await Shell.Current.GoToAsync("//main/conversion");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else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MostrarError(resultado.Message);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MostrarError("Ocurrió un error inesperado. Intente de nuevo.");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finally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MostrarCargando(bool cargando)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IngresarButton.IsEnabled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UsernameEntry.IsEnabled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PasswordEntry.IsEnabled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CargandoIndicator.IsRunning = 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CargandoIndicator.IsVisible = 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472137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672223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MostrarError(string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ErrorLabel.Text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ErrorLabel.IsVisible =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211122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F6C813-06A0-4F01-9E4C-0E0CF05C8C2D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01C539FB-AE0B-4B8B-7DD5-AD233E4C27ED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58125-3C13-AD78-9C76-DAAAEE05474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E316B965-A3B3-826D-0C8E-D7022F28216D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8385C9-7B7A-28BE-CF9F-7520B7660FAF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FCCE65EA-592C-0033-83B1-A47C72625870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413521217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SOAP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SoapCore permitió publicar servicios SOAP con su contrato WSDL sobre ASP.NET Core, sin depender de WCF en el servidor.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438038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y WS-Security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Regenerar las referencias de servicio de los clientes cada vez que cambie el contrato WSDL del servidor.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407617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12602</Words>
  <Application>Microsoft Office PowerPoint</Application>
  <PresentationFormat>Widescreen</PresentationFormat>
  <Paragraphs>2519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5" baseType="lpstr">
      <vt:lpstr>Noto Sans Symbols</vt:lpstr>
      <vt:lpstr>Arial</vt:lpstr>
      <vt:lpstr>Calibri</vt:lpstr>
      <vt:lpstr>Gill Sans</vt:lpstr>
      <vt:lpstr>Cambria</vt:lpstr>
      <vt:lpstr>Dividendo</vt:lpstr>
      <vt:lpstr>MANUAL CONVERSIÓN UNIDADES SOAP .NET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4</cp:revision>
  <dcterms:modified xsi:type="dcterms:W3CDTF">2026-10-27T17:03:35Z</dcterms:modified>
</cp:coreProperties>
</file>