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uía (borrar antes de entregar)" id="{3C4A3E80-979C-415E-9E4C-5876165058CB}">
          <p14:sldIdLst/>
        </p14:section>
        <p14:section name="Inicio" id="{85221BC4-FBEE-4386-B6C6-74F28EAFDE09}">
          <p14:sldIdLst>
            <p14:sldId id="257"/>
            <p14:sldId id="258"/>
            <p14:sldId id="259"/>
          </p14:sldIdLst>
        </p14:section>
        <p14:section name="01 Marco teórico y arquitectura" id="{4D0A77A6-4F2B-4325-86EE-021ABC1E7231}">
          <p14:sldIdLst>
            <p14:sldId id="260"/>
            <p14:sldId id="261"/>
            <p14:sldId id="262"/>
            <p14:sldId id="263"/>
            <p14:sldId id="264"/>
          </p14:sldIdLst>
        </p14:section>
        <p14:section name="02 Servidor" id="{A5676A14-BFE4-4F82-839C-752792D76696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03 Cliente consola" id="{75F9B0AC-69E2-4326-B819-B7A284B3842B}">
          <p14:sldIdLst>
            <p14:sldId id="272"/>
            <p14:sldId id="273"/>
            <p14:sldId id="274"/>
            <p14:sldId id="275"/>
          </p14:sldIdLst>
        </p14:section>
        <p14:section name="04 Cliente escritorio" id="{4F4FB61D-ED00-4764-BD16-4BA139F705C9}">
          <p14:sldIdLst>
            <p14:sldId id="276"/>
            <p14:sldId id="277"/>
            <p14:sldId id="278"/>
            <p14:sldId id="279"/>
          </p14:sldIdLst>
        </p14:section>
        <p14:section name="05 Cliente web" id="{1C210947-1E09-4EA6-9105-F53627F36D5E}">
          <p14:sldIdLst>
            <p14:sldId id="280"/>
            <p14:sldId id="281"/>
            <p14:sldId id="282"/>
            <p14:sldId id="283"/>
          </p14:sldIdLst>
        </p14:section>
        <p14:section name="06 Cliente móvil" id="{9AEA3D85-EB5C-4938-A437-9C2DA399CE94}">
          <p14:sldIdLst>
            <p14:sldId id="284"/>
            <p14:sldId id="285"/>
            <p14:sldId id="286"/>
            <p14:sldId id="287"/>
          </p14:sldIdLst>
        </p14:section>
        <p14:section name="07 Pruebas" id="{91D38AA6-F6F5-4C48-9795-F0DD319371D1}">
          <p14:sldIdLst>
            <p14:sldId id="288"/>
            <p14:sldId id="289"/>
            <p14:sldId id="290"/>
          </p14:sldIdLst>
        </p14:section>
        <p14:section name="08 Conclusiones y recomendaciones" id="{D8AAA42E-A855-4E39-9DC4-4932400FA88C}">
          <p14:sldIdLst>
            <p14:sldId id="291"/>
            <p14:sldId id="292"/>
            <p14:sldId id="293"/>
            <p14:sldId id="29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614B80-B5D1-4A38-85F3-83169483ACEA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2752D-3817-4F73-A4B2-0A1883A92064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12026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Portada. Cambia el título según el proyecto (ver la guía) y llena integrantes, tutor y fecha.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469087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Índice de la presentación. Si agregas o quitas secciones, actualiza esta lista.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209915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Objetivos. El general sirve para los 4 proyectos; ajusta [SOAP | RESTful] y [JAVA | .NET].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69710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Deja solo el protocolo de tu proyecto. Captura sugerida: el WSDL (SOAP) o una respuesta JSON del servidor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081606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Conceptos comunes a los 4 proyectos. Puedes resumirlos si la presentación es corta.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040615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Llena la tecnología y la versión de cada parte. La guía oculta tiene las tecnologías de cada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422008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Diagrama editable: cambia los textos entre corchetes. Las flechas indican que cada cliente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138510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la ventana de creación del proyecto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346309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árbol de carpetas del servidor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894481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operaciones son las mismas en los 4 proyectos. Completa la ruta o el nombre exacto en este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67776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Unidades que maneja el servidor (iguales en los 4 proyectos). Verifícalas con el catálogo de tu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234140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más importante (por ejemplo, la definición del servicio o del endpoint) y explícalo a la derecha.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277423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WSDL abierto en el navegador (SOAP) o una prueba del endpoint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758192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consola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5200138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consola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731464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consola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949122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escritorio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79995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escritorio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485328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escritorio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82270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web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538874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web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753196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web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46703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móvil en el IDE o el emulador.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974233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móvil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216081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móvil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07112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Los resultados esperados son los del servidor. Marca Sí o No según lo que obtuviste en cada cliente.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340526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resultado de las pruebas automáticas o un cliente mostrando un error controlado.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748074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primeras sirven para los 4 proyectos; agrega al menos una propia del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53449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Recomendaciones comunes; agrega o quita según 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373445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Formato APA. Agrega las fuentes que usaron (documentación oficial, libros, sitios).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02780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ada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FA0A169-9C29-366C-7DFC-D4FEC07780AC}"/>
              </a:ext>
            </a:extLst>
          </p:cNvPr>
          <p:cNvCxnSpPr/>
          <p:nvPr userDrawn="1"/>
        </p:nvCxnSpPr>
        <p:spPr>
          <a:xfrm flipH="1" flipV="1">
            <a:off x="7429500" y="18415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E84061-6B99-EFC5-5C3D-25FF2879D57C}"/>
              </a:ext>
            </a:extLst>
          </p:cNvPr>
          <p:cNvCxnSpPr/>
          <p:nvPr userDrawn="1"/>
        </p:nvCxnSpPr>
        <p:spPr>
          <a:xfrm flipV="1">
            <a:off x="9334500" y="16510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F03A87-0D66-BF8D-DF7F-1D89C177A9A6}"/>
              </a:ext>
            </a:extLst>
          </p:cNvPr>
          <p:cNvCxnSpPr/>
          <p:nvPr userDrawn="1"/>
        </p:nvCxnSpPr>
        <p:spPr>
          <a:xfrm>
            <a:off x="9334500" y="34290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BD970-7CDB-98CE-5D0F-A64470966E37}"/>
              </a:ext>
            </a:extLst>
          </p:cNvPr>
          <p:cNvCxnSpPr/>
          <p:nvPr userDrawn="1"/>
        </p:nvCxnSpPr>
        <p:spPr>
          <a:xfrm flipH="1">
            <a:off x="7937500" y="34290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DF639514-629A-B1C1-3CE5-46F1115404C7}"/>
              </a:ext>
            </a:extLst>
          </p:cNvPr>
          <p:cNvSpPr/>
          <p:nvPr userDrawn="1"/>
        </p:nvSpPr>
        <p:spPr>
          <a:xfrm>
            <a:off x="8547100" y="26416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2651EB1-223E-EEE8-8AC9-20F0DE7010E3}"/>
              </a:ext>
            </a:extLst>
          </p:cNvPr>
          <p:cNvSpPr/>
          <p:nvPr userDrawn="1"/>
        </p:nvSpPr>
        <p:spPr>
          <a:xfrm>
            <a:off x="7150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6E18D06-94EC-5C1E-E61E-4353B2A8FB6F}"/>
              </a:ext>
            </a:extLst>
          </p:cNvPr>
          <p:cNvSpPr/>
          <p:nvPr userDrawn="1"/>
        </p:nvSpPr>
        <p:spPr>
          <a:xfrm>
            <a:off x="10845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289F02A-9CF5-26DB-F28D-75782B85FE48}"/>
              </a:ext>
            </a:extLst>
          </p:cNvPr>
          <p:cNvSpPr/>
          <p:nvPr userDrawn="1"/>
        </p:nvSpPr>
        <p:spPr>
          <a:xfrm>
            <a:off x="11125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2959575-7996-F350-2C06-EAE4BA7E9FDC}"/>
              </a:ext>
            </a:extLst>
          </p:cNvPr>
          <p:cNvSpPr/>
          <p:nvPr userDrawn="1"/>
        </p:nvSpPr>
        <p:spPr>
          <a:xfrm>
            <a:off x="7759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9E93B51-C82F-FEBF-39A9-163E0CC91928}"/>
              </a:ext>
            </a:extLst>
          </p:cNvPr>
          <p:cNvSpPr>
            <a:spLocks noGrp="1"/>
          </p:cNvSpPr>
          <p:nvPr>
            <p:ph type="ctrTitle" idx="10" hasCustomPrompt="1"/>
          </p:nvPr>
        </p:nvSpPr>
        <p:spPr>
          <a:xfrm>
            <a:off x="711200" y="1524000"/>
            <a:ext cx="7112000" cy="1905000"/>
          </a:xfrm>
        </p:spPr>
        <p:txBody>
          <a:bodyPr lIns="0" anchor="b"/>
          <a:lstStyle>
            <a:lvl1pPr algn="l">
              <a:defRPr sz="34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del proyecto</a:t>
            </a:r>
            <a:endParaRPr lang="es-EC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D77B4D42-A41C-CC3C-3E13-C8020B186453}"/>
              </a:ext>
            </a:extLst>
          </p:cNvPr>
          <p:cNvSpPr>
            <a:spLocks noGrp="1"/>
          </p:cNvSpPr>
          <p:nvPr>
            <p:ph type="subTitle" idx="11" hasCustomPrompt="1"/>
          </p:nvPr>
        </p:nvSpPr>
        <p:spPr>
          <a:xfrm>
            <a:off x="711200" y="3581400"/>
            <a:ext cx="7112000" cy="457200"/>
          </a:xfrm>
        </p:spPr>
        <p:txBody>
          <a:bodyPr lIns="0" anchor="t"/>
          <a:lstStyle>
            <a:lvl1pPr marL="0" indent="0" algn="l">
              <a:buNone/>
              <a:defRPr sz="1600">
                <a:solidFill>
                  <a:srgbClr val="E8A33D"/>
                </a:solidFill>
                <a:latin typeface="Segoe UI" panose="020B0502040204020203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Subtítulo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47B3CEC-FD80-7870-BD63-241E250FD8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4318000"/>
            <a:ext cx="7112000" cy="1905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3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Integrantes, tutor y fecha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44502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ción">
    <p:bg>
      <p:bgPr>
        <a:solidFill>
          <a:srgbClr val="0E4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691D7F-B33E-8BD2-6192-9289BBD48946}"/>
              </a:ext>
            </a:extLst>
          </p:cNvPr>
          <p:cNvCxnSpPr/>
          <p:nvPr userDrawn="1"/>
        </p:nvCxnSpPr>
        <p:spPr>
          <a:xfrm flipH="1" flipV="1">
            <a:off x="7556500" y="1841500"/>
            <a:ext cx="1905000" cy="1587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CAA5EF-1921-E335-66FB-21753C9456C8}"/>
              </a:ext>
            </a:extLst>
          </p:cNvPr>
          <p:cNvCxnSpPr/>
          <p:nvPr userDrawn="1"/>
        </p:nvCxnSpPr>
        <p:spPr>
          <a:xfrm flipV="1">
            <a:off x="9461500" y="1651000"/>
            <a:ext cx="1714500" cy="1778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856568-B9E3-064D-2D86-CB8AC9E8798D}"/>
              </a:ext>
            </a:extLst>
          </p:cNvPr>
          <p:cNvCxnSpPr/>
          <p:nvPr userDrawn="1"/>
        </p:nvCxnSpPr>
        <p:spPr>
          <a:xfrm>
            <a:off x="9461500" y="3429000"/>
            <a:ext cx="2095500" cy="1333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EA9FA2-ED97-F77D-ADE4-3610AFA664F0}"/>
              </a:ext>
            </a:extLst>
          </p:cNvPr>
          <p:cNvCxnSpPr/>
          <p:nvPr userDrawn="1"/>
        </p:nvCxnSpPr>
        <p:spPr>
          <a:xfrm flipH="1">
            <a:off x="8064500" y="3429000"/>
            <a:ext cx="1397000" cy="1905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95D5F4F0-5D04-4E6A-8BE0-C2502EA94D50}"/>
              </a:ext>
            </a:extLst>
          </p:cNvPr>
          <p:cNvSpPr/>
          <p:nvPr userDrawn="1"/>
        </p:nvSpPr>
        <p:spPr>
          <a:xfrm>
            <a:off x="8674100" y="2641600"/>
            <a:ext cx="1574800" cy="1574800"/>
          </a:xfrm>
          <a:prstGeom prst="ellipse">
            <a:avLst/>
          </a:prstGeom>
          <a:solidFill>
            <a:srgbClr val="0A2E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8F95F62-BCCF-0116-16EA-F46F2AA3E456}"/>
              </a:ext>
            </a:extLst>
          </p:cNvPr>
          <p:cNvSpPr/>
          <p:nvPr userDrawn="1"/>
        </p:nvSpPr>
        <p:spPr>
          <a:xfrm>
            <a:off x="7277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1236B89-67A4-5762-8D94-4FF50E1AFC96}"/>
              </a:ext>
            </a:extLst>
          </p:cNvPr>
          <p:cNvSpPr/>
          <p:nvPr userDrawn="1"/>
        </p:nvSpPr>
        <p:spPr>
          <a:xfrm>
            <a:off x="10972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E988148-7836-BF60-7C57-1FE462352210}"/>
              </a:ext>
            </a:extLst>
          </p:cNvPr>
          <p:cNvSpPr/>
          <p:nvPr userDrawn="1"/>
        </p:nvSpPr>
        <p:spPr>
          <a:xfrm>
            <a:off x="11252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E22A5F2-19F0-4B0E-149D-06DFBA8DF6E8}"/>
              </a:ext>
            </a:extLst>
          </p:cNvPr>
          <p:cNvSpPr/>
          <p:nvPr userDrawn="1"/>
        </p:nvSpPr>
        <p:spPr>
          <a:xfrm>
            <a:off x="7886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542A1690-54FD-1127-E5A7-10FE0AA0E66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711200" y="2603500"/>
            <a:ext cx="7620000" cy="1270000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Nombre de la sección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CFFFB8D-11AF-FF1D-60B6-5C04FB49E6F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11200" y="1778000"/>
            <a:ext cx="2540000" cy="762000"/>
          </a:xfrm>
        </p:spPr>
        <p:txBody>
          <a:bodyPr lIns="0" anchor="b"/>
          <a:lstStyle>
            <a:lvl1pPr>
              <a:buFontTx/>
              <a:buNone/>
              <a:defRPr sz="4000">
                <a:solidFill>
                  <a:srgbClr val="E8A33D"/>
                </a:solidFill>
                <a:latin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00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5265B08-03C3-10B7-5430-AE2A715657B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3937000"/>
            <a:ext cx="7620000" cy="889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6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 breve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47761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72AE8D-C281-7884-52CD-671C70B8FB84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B38A61-7B2F-EB49-610B-6F65B2B9646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10972800" cy="4826000"/>
          </a:xfrm>
        </p:spPr>
        <p:txBody>
          <a:bodyPr lIns="0" anchor="t"/>
          <a:lstStyle/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B54A08-C9B6-A690-9DF6-10C00D57DEF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1E22E7-91C4-E7F2-1F3E-77053E94C23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3F67B26-A532-469D-B03D-3BAE6653CCDE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3371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y cap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B54432D-B662-3AFE-4C10-C4EAFA5C4B2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BE7BBF-78BD-6007-FBA5-1031C90624D7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4191000" cy="4826000"/>
          </a:xfr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F48F691-B459-96B2-856C-4EC07F258F1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080000" y="1270000"/>
            <a:ext cx="6502400" cy="4826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DC52AC-61CB-A614-46AD-486732D1072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7205D7-8E10-6064-BCF5-5974BA77FC8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F4DCEA52-AD7D-4F91-B610-EC01058B2C7D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96428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os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DD9D1F9-585E-1DED-12F0-633B0A13A5B7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F9A552D-CF99-DFE4-4342-0A7430C1336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5334000" cy="4826000"/>
          </a:xfr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izquierda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68790A-E3BE-E59F-64F8-17A7AC4AFC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8400" y="1270000"/>
            <a:ext cx="5334000" cy="4826000"/>
          </a:xfrm>
          <a:prstGeom prst="rect">
            <a:avLst/>
          </a:prstGeo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derecha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57B643-BAD8-0AEB-E8CB-09CE4E62FA4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4E33D2E-A974-2CAF-A043-84E1DDD9064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D009628B-B1E2-4CD6-BED4-96B3B70CC777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78362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o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326190B-CAD9-1E31-F7F0-0959D22C1C3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FC4B250-6473-A2B5-D7E8-6E02737A5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9372C-AC73-2E6A-3BCA-21DC170B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28021764-5DCE-4185-9057-5C8BD868ABA0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47591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s captur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C33B645-6F86-0688-121C-6C5F9C1E597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4F2E542-2086-06BE-0964-C7A5E4DB34E5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609600" y="1270000"/>
            <a:ext cx="3454400" cy="4191000"/>
          </a:xfrm>
        </p:spPr>
        <p:txBody>
          <a:bodyPr/>
          <a:lstStyle/>
          <a:p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A750E6B-4E5D-9674-44C4-F8A36CD9EFA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507B7F7-3754-B19F-96AA-FD38E40E7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688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E0091EE-F0A3-BDC5-416D-C81B4BF975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688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08DC85F-6FB5-3C36-B304-F73B63ED050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280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4E99E4-67AB-A517-659B-B694419EBC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D1C6087-F7CB-4ABD-87AA-219DF6D56E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F03F4B6-FD9B-F983-3661-0DBF612FD6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D48DB67-5DD6-4FCB-A3FC-46B1DF05539C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49624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ó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B9A7697-5A6B-691A-80CB-97C04DA7B2CB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840D74-6284-48D4-B4AB-F1DE0B8C387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7239000" cy="4826000"/>
          </a:xfrm>
          <a:solidFill>
            <a:srgbClr val="F3F5F6"/>
          </a:solidFill>
        </p:spPr>
        <p:txBody>
          <a:bodyPr lIns="203200" tIns="177800" rIns="203200" anchor="t"/>
          <a:lstStyle>
            <a:lvl1pPr>
              <a:spcAft>
                <a:spcPts val="0"/>
              </a:spcAft>
              <a:buFontTx/>
              <a:buNone/>
              <a:defRPr sz="1200">
                <a:solidFill>
                  <a:srgbClr val="1F2A30"/>
                </a:solidFill>
                <a:latin typeface="Consolas" panose="020B0609020204030204" pitchFamily="49" charset="0"/>
              </a:defRPr>
            </a:lvl1pPr>
          </a:lstStyle>
          <a:p>
            <a:pPr lvl="0"/>
            <a:r>
              <a:rPr lang="en-US"/>
              <a:t>Código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65E67E-647A-1518-5A60-52CC6277F1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53400" y="1270000"/>
            <a:ext cx="3429000" cy="4826000"/>
          </a:xfrm>
          <a:prstGeom prst="rect">
            <a:avLst/>
          </a:prstGeo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Explicación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6AB6713-97BA-8E91-D4B3-3ACA8D9F52E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6C7CB78-21F6-788B-1663-17AB51AE79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8550A18F-661E-447E-AEC0-997D2D0DE405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16379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ierre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1F4B6D4-3631-08A2-221C-4971E222D77F}"/>
              </a:ext>
            </a:extLst>
          </p:cNvPr>
          <p:cNvCxnSpPr/>
          <p:nvPr userDrawn="1"/>
        </p:nvCxnSpPr>
        <p:spPr>
          <a:xfrm flipH="1" flipV="1">
            <a:off x="4191000" y="8890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72469-FFC1-E358-91A7-9E50ACA0E0B1}"/>
              </a:ext>
            </a:extLst>
          </p:cNvPr>
          <p:cNvCxnSpPr/>
          <p:nvPr userDrawn="1"/>
        </p:nvCxnSpPr>
        <p:spPr>
          <a:xfrm flipV="1">
            <a:off x="6096000" y="6985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DC4D95-A34F-5010-6579-8257057A1B06}"/>
              </a:ext>
            </a:extLst>
          </p:cNvPr>
          <p:cNvCxnSpPr/>
          <p:nvPr userDrawn="1"/>
        </p:nvCxnSpPr>
        <p:spPr>
          <a:xfrm>
            <a:off x="6096000" y="24765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0AB075-3946-2442-1842-3F2D14AC5DF2}"/>
              </a:ext>
            </a:extLst>
          </p:cNvPr>
          <p:cNvCxnSpPr/>
          <p:nvPr userDrawn="1"/>
        </p:nvCxnSpPr>
        <p:spPr>
          <a:xfrm flipH="1">
            <a:off x="4699000" y="24765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33DA491-F0E6-04A2-B2DE-9A0500C5E19E}"/>
              </a:ext>
            </a:extLst>
          </p:cNvPr>
          <p:cNvSpPr/>
          <p:nvPr userDrawn="1"/>
        </p:nvSpPr>
        <p:spPr>
          <a:xfrm>
            <a:off x="5308600" y="16891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E13509-B56E-682C-0D42-377A0A337C3F}"/>
              </a:ext>
            </a:extLst>
          </p:cNvPr>
          <p:cNvSpPr/>
          <p:nvPr userDrawn="1"/>
        </p:nvSpPr>
        <p:spPr>
          <a:xfrm>
            <a:off x="3911600" y="6096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D4462E6-704D-D92D-E0A7-22C0F996964A}"/>
              </a:ext>
            </a:extLst>
          </p:cNvPr>
          <p:cNvSpPr/>
          <p:nvPr userDrawn="1"/>
        </p:nvSpPr>
        <p:spPr>
          <a:xfrm>
            <a:off x="7607300" y="4953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8F56403-B8D6-76DA-DD4B-4CDF66E35B21}"/>
              </a:ext>
            </a:extLst>
          </p:cNvPr>
          <p:cNvSpPr/>
          <p:nvPr userDrawn="1"/>
        </p:nvSpPr>
        <p:spPr>
          <a:xfrm>
            <a:off x="7886700" y="35052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5909533-970B-DFCE-F96F-19442A139FF7}"/>
              </a:ext>
            </a:extLst>
          </p:cNvPr>
          <p:cNvSpPr/>
          <p:nvPr userDrawn="1"/>
        </p:nvSpPr>
        <p:spPr>
          <a:xfrm>
            <a:off x="4521200" y="42037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D290A26-ADDF-0D38-B2B1-A5D11435161A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1016000" y="4800600"/>
            <a:ext cx="10160000" cy="889000"/>
          </a:xfrm>
        </p:spPr>
        <p:txBody>
          <a:bodyPr lIns="0" anchor="ctr"/>
          <a:lstStyle>
            <a:lvl1pPr algn="ctr">
              <a:defRPr sz="40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Gracias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F7DCF2E-AD46-666B-47AC-8C85561A949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016000" y="5715000"/>
            <a:ext cx="10160000" cy="508000"/>
          </a:xfrm>
        </p:spPr>
        <p:txBody>
          <a:bodyPr lIns="0" anchor="t"/>
          <a:lstStyle>
            <a:lvl1pPr algn="ctr">
              <a:buFontTx/>
              <a:buNone/>
              <a:defRPr sz="1800">
                <a:solidFill>
                  <a:srgbClr val="E8A33D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Subtítulo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4648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8BEE58-5666-4F40-70E7-463AC5C86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A2955-92AC-49A9-E0B6-AFA16248B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96AD8-541F-FB2F-C431-0964543FF1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54B771-1FA7-4D26-9482-520C1A4C857B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869A8-3C8C-0F3A-3119-EDC07F577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C8EE7-03C8-217F-2C4A-6CA196DF94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9D5F87-2CCA-4BC2-A35E-054BD1946F27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62578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0E4D5C"/>
          </a:solidFill>
          <a:latin typeface="Segoe UI Semibold" panose="020B07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41D70-C4F7-3470-C148-C4F996B43F3E}"/>
              </a:ext>
            </a:extLst>
          </p:cNvPr>
          <p:cNvSpPr>
            <a:spLocks noGrp="1"/>
          </p:cNvSpPr>
          <p:nvPr>
            <p:ph type="ctrTitle" idx="10"/>
          </p:nvPr>
        </p:nvSpPr>
        <p:spPr/>
        <p:txBody>
          <a:bodyPr/>
          <a:lstStyle/>
          <a:p>
            <a:r>
              <a:rPr lang="es-MX"/>
              <a:t>Conversión de Unidades SOAP sin BDD en .NET</a:t>
            </a:r>
            <a:endParaRPr lang="es-EC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E88650-A398-C8E6-2E83-D2FCD45638DA}"/>
              </a:ext>
            </a:extLst>
          </p:cNvPr>
          <p:cNvSpPr>
            <a:spLocks noGrp="1"/>
          </p:cNvSpPr>
          <p:nvPr>
            <p:ph type="subTitle" idx="11"/>
          </p:nvPr>
        </p:nvSpPr>
        <p:spPr/>
        <p:txBody>
          <a:bodyPr/>
          <a:lstStyle/>
          <a:p>
            <a:r>
              <a:rPr lang="pt-BR"/>
              <a:t>TI.1.2 · Arquitectura de Software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83DDAC-F020-1744-3A73-B67C14FFE1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Integrantes:</a:t>
            </a:r>
            <a:r>
              <a:rPr lang="es-MX"/>
              <a:t>  Diego Mateo Sosa Flores · Marcos David Escobar Vela · Carlos Isaac Ñato Caiza</a:t>
            </a:r>
          </a:p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Tutor:</a:t>
            </a:r>
            <a:r>
              <a:rPr lang="es-MX"/>
              <a:t>  Ing. Eduardo Mauricio Campaña Ortega</a:t>
            </a:r>
          </a:p>
          <a:p>
            <a:pPr>
              <a:spcAft>
                <a:spcPts val="600"/>
              </a:spcAft>
            </a:pPr>
            <a:r>
              <a:rPr lang="es-MX"/>
              <a:t>NRC 36883 · Grupo 4 · [dd/mm/aaaa]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60127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02B87-B7E7-5C90-B0CB-EA92983CAFE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Contenido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24C8F-2FAB-F8A5-3A05-D2F448111BC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01</a:t>
            </a:r>
            <a:r>
              <a:rPr lang="es-EC" sz="2200"/>
              <a:t>   Marco teórico y arquitectura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02</a:t>
            </a:r>
            <a:r>
              <a:rPr lang="es-EC" sz="2200"/>
              <a:t>   Servidor SOAP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03</a:t>
            </a:r>
            <a:r>
              <a:rPr lang="es-EC" sz="2200"/>
              <a:t>   Cliente consola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04</a:t>
            </a:r>
            <a:r>
              <a:rPr lang="es-EC" sz="2200"/>
              <a:t>   Cliente escritorio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F9F4EF-EA3A-9690-3EF6-1567039922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05</a:t>
            </a:r>
            <a:r>
              <a:rPr lang="es-MX" sz="2200"/>
              <a:t>   Cliente web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06</a:t>
            </a:r>
            <a:r>
              <a:rPr lang="es-MX" sz="2200"/>
              <a:t>   Cliente móvil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07</a:t>
            </a:r>
            <a:r>
              <a:rPr lang="es-MX" sz="2200"/>
              <a:t>   Pruebas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08</a:t>
            </a:r>
            <a:r>
              <a:rPr lang="es-MX" sz="2200"/>
              <a:t>   Conclusiones y recomendaciones</a:t>
            </a:r>
            <a:endParaRPr lang="es-EC" sz="22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2BCC6-B52C-7884-7E2C-547AD882D91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A596D-D26B-9C25-4572-26B9B85F31C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4692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F89C6-B960-8B43-E962-DBD1855CF163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Objetivos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058C5-FF46-3765-0E57-2BA52C88A48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 general</a:t>
            </a:r>
          </a:p>
          <a:p>
            <a:pPr marL="0" indent="0">
              <a:buNone/>
            </a:pPr>
            <a:r>
              <a:rPr lang="es-MX"/>
              <a:t>Desarrollar un sistema de conversión de unidades basado en un servicio web SOAP en .NET, sin base de datos, consumido por clientes de consola, escritorio, web y móvil.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FC757D-CB26-4ACA-2EE0-C843395C3DA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Objetivos específicos</a:t>
            </a:r>
          </a:p>
          <a:p>
            <a:r>
              <a:rPr lang="es-MX"/>
              <a:t>Implementar el servidor SOAP con autenticación por token y conversión de seis magnitudes.</a:t>
            </a:r>
          </a:p>
          <a:p>
            <a:r>
              <a:rPr lang="es-MX"/>
              <a:t>Construir los cuatro clientes aplicando el patrón MVC.</a:t>
            </a:r>
          </a:p>
          <a:p>
            <a:r>
              <a:rPr lang="es-MX"/>
              <a:t>Verificar el funcionamiento de cada cliente contra el servidor mediante pruebas.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4C8F3-7A80-78A3-5481-2BE11D53BC3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C881E-54ED-1010-7D94-B7C00C06A15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5820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E1468-2DB9-2647-01B8-3D597DE1EB6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Marco teórico y arquitectura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0A784B-918D-F432-1344-492455F55EA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04F134-440C-E1F0-0012-B0E7F45CB1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Conceptos base y visión general del sistema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8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873D2-2B82-E9D3-C0FE-138947DF214A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SOAP y WSDL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43A234-A1A5-91EB-F3EF-08D1B988FFB0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Intercambia mensajes XML dentro de un sobre (Envelope). Un contrato WSDL describe las operaciones del servicio.</a:t>
            </a:r>
          </a:p>
          <a:p>
            <a:r>
              <a:rPr lang="es-MX"/>
              <a:t>Ventaja: los clientes se generan automáticamente desde el WSDL (referencia de servicio WCF).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17195D7-A9F0-4BB4-62E8-D51DAF5290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D1D35-2EC9-81CE-D393-02AAE0A66F0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3FC15-E219-DD32-F762-0C67AC2919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1864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C3155-B5D7-0B7F-E403-33EFCF37595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SOA y patrón MVC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29B1DD-8EC5-72E2-FDEF-635B4A41EA9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Arquitectura orientada a servicios</a:t>
            </a:r>
          </a:p>
          <a:p>
            <a:r>
              <a:rPr lang="es-MX"/>
              <a:t>El servidor expone la lógica como servicios que se consumen por red.</a:t>
            </a:r>
          </a:p>
          <a:p>
            <a:r>
              <a:rPr lang="es-MX"/>
              <a:t>Clientes en distintas plataformas usan el mismo servicio sin conocer su implementación.</a:t>
            </a:r>
          </a:p>
          <a:p>
            <a:r>
              <a:rPr lang="es-MX"/>
              <a:t>Cada parte se desarrolla y despliega por separado.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D6B4C5-50AD-76A0-F68A-6F1F837303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Modelo-Vista-Controlador</a:t>
            </a:r>
          </a:p>
          <a:p>
            <a:r>
              <a:rPr lang="es-MX"/>
              <a:t>Modelo: datos y conexión con el servidor.</a:t>
            </a:r>
          </a:p>
          <a:p>
            <a:r>
              <a:rPr lang="es-MX"/>
              <a:t>Vista: pantallas o páginas que ve el usuario.</a:t>
            </a:r>
          </a:p>
          <a:p>
            <a:r>
              <a:rPr lang="es-MX"/>
              <a:t>Controlador: recibe las acciones del usuario, usa el modelo y actualiza la vista.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82950-279C-0C64-34FC-88950DFC3FE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1C650-0F2A-1687-BF3E-9EE43AA23FB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91313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C01D2-C56B-2C13-DB96-E131466FCE6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Tecnologías utilizadas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5A15A6-67C2-271B-7D3F-21A3CE7A4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1B1C6-B27F-0D2C-FD1D-6D0499EE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7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BC663-5EC7-02EC-6EC2-6708FA4222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981535"/>
              </p:ext>
            </p:extLst>
          </p:nvPr>
        </p:nvGraphicFramePr>
        <p:xfrm>
          <a:off x="609600" y="1270000"/>
          <a:ext cx="10972800" cy="4089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1715502028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1564944090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3583685899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Componente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Tecnología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Versión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26353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sv-SE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+ SoapCore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 · SoapCore 1.2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36953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consola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+ cliente WCF generado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2407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escritorio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WinForms + WCF (ChannelFactory)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969875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web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MVC + WCF (ChannelFactory)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93871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móvil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MAUI (Android) + cliente WCF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55488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Herramientas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Visual Studio 2026, NuGet, emulador Android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VS 2026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55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5605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6B6CD-2B8A-496E-D618-A4CB64DA61EE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del sistema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B2D00-9289-6068-3527-E60B50A4E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91724-C80A-68A0-BED3-8F7DCD57F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8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6E4298-E44E-4B5E-45E8-DB391094CD7E}"/>
              </a:ext>
            </a:extLst>
          </p:cNvPr>
          <p:cNvSpPr/>
          <p:nvPr/>
        </p:nvSpPr>
        <p:spPr>
          <a:xfrm>
            <a:off x="4572000" y="2413000"/>
            <a:ext cx="3048000" cy="2032000"/>
          </a:xfrm>
          <a:prstGeom prst="roundRect">
            <a:avLst>
              <a:gd name="adj" fmla="val 8000"/>
            </a:avLst>
          </a:prstGeom>
          <a:solidFill>
            <a:srgbClr val="0E4D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pPr algn="ctr">
              <a:spcAft>
                <a:spcPts val="600"/>
              </a:spcAft>
            </a:pPr>
            <a:r>
              <a:rPr lang="es-EC" sz="1700">
                <a:solidFill>
                  <a:srgbClr val="FFFFFF"/>
                </a:solidFill>
                <a:latin typeface="Segoe UI Semibold" panose="020B0702040204020203" pitchFamily="34" charset="0"/>
              </a:rPr>
              <a:t>Servidor SOAP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D6E4E7"/>
                </a:solidFill>
                <a:latin typeface="Segoe UI" panose="020B0502040204020203" pitchFamily="34" charset="0"/>
              </a:rPr>
              <a:t>.NET · localhost:5052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E8A33D"/>
                </a:solidFill>
                <a:latin typeface="Segoe UI" panose="020B0502040204020203" pitchFamily="34" charset="0"/>
              </a:rPr>
              <a:t>login · catálogo · conversión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75A808E-C15B-FB27-C77B-3AD51FF59A6B}"/>
              </a:ext>
            </a:extLst>
          </p:cNvPr>
          <p:cNvSpPr/>
          <p:nvPr/>
        </p:nvSpPr>
        <p:spPr>
          <a:xfrm>
            <a:off x="762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consola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.NET (consola)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479FFE-8DDF-AA34-2CC6-E084986D341F}"/>
              </a:ext>
            </a:extLst>
          </p:cNvPr>
          <p:cNvCxnSpPr/>
          <p:nvPr/>
        </p:nvCxnSpPr>
        <p:spPr>
          <a:xfrm>
            <a:off x="3302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5353FE-2EC1-6A6A-074F-01BC99AA6D98}"/>
              </a:ext>
            </a:extLst>
          </p:cNvPr>
          <p:cNvSpPr/>
          <p:nvPr/>
        </p:nvSpPr>
        <p:spPr>
          <a:xfrm>
            <a:off x="762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escritorio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WinForms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1497C1C-819B-F6C2-848B-EB6021537A16}"/>
              </a:ext>
            </a:extLst>
          </p:cNvPr>
          <p:cNvCxnSpPr/>
          <p:nvPr/>
        </p:nvCxnSpPr>
        <p:spPr>
          <a:xfrm flipV="1">
            <a:off x="3302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5517002-2359-7F16-1B1B-A3073F2C3B8C}"/>
              </a:ext>
            </a:extLst>
          </p:cNvPr>
          <p:cNvSpPr/>
          <p:nvPr/>
        </p:nvSpPr>
        <p:spPr>
          <a:xfrm>
            <a:off x="8890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web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ASP.NET Core MVC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446A3E-C631-B6AA-AADB-BE39E99D4C21}"/>
              </a:ext>
            </a:extLst>
          </p:cNvPr>
          <p:cNvCxnSpPr/>
          <p:nvPr/>
        </p:nvCxnSpPr>
        <p:spPr>
          <a:xfrm flipH="1">
            <a:off x="7620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7F86EC2-7B1B-BDCB-C2AB-B3B5C933EE38}"/>
              </a:ext>
            </a:extLst>
          </p:cNvPr>
          <p:cNvSpPr/>
          <p:nvPr/>
        </p:nvSpPr>
        <p:spPr>
          <a:xfrm>
            <a:off x="8890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móvil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.NET MAUI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E18C1C-61A1-2521-60A9-E4D83E4465BE}"/>
              </a:ext>
            </a:extLst>
          </p:cNvPr>
          <p:cNvCxnSpPr/>
          <p:nvPr/>
        </p:nvCxnSpPr>
        <p:spPr>
          <a:xfrm flipH="1" flipV="1">
            <a:off x="7620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0E8A14B-4945-2B5D-5153-4C50AB62CFB0}"/>
              </a:ext>
            </a:extLst>
          </p:cNvPr>
          <p:cNvSpPr txBox="1"/>
          <p:nvPr/>
        </p:nvSpPr>
        <p:spPr>
          <a:xfrm>
            <a:off x="609600" y="5461000"/>
            <a:ext cx="10972800" cy="30777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es-MX" sz="1400">
                <a:solidFill>
                  <a:srgbClr val="5F6B72"/>
                </a:solidFill>
                <a:latin typeface="Segoe UI" panose="020B0502040204020203" pitchFamily="34" charset="0"/>
              </a:rPr>
              <a:t>Comunicación: mensajes SOAP en XML · autenticación por token en cada llamada</a:t>
            </a:r>
            <a:endParaRPr lang="es-EC" sz="14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3880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E5798-3027-3A53-840A-AAC944A03AE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Servidor SOAP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96BDF3-751A-15B0-D9A6-CBC9D09D70A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9CB27A-70E5-948A-5F64-D5BAF78FFBE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ASP.NET Core + SoapCore · http://localhost:5052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49306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379E6-4BB3-A7D4-8C42-FD9259B9E05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Creación del proyecto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AF781-A43C-810E-8225-0C6995128B2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Crear un proyecto ASP.NET Core Web API en Visual Studio 2026.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Nombrarlo WS_CON_UNI_DOTNET_SOAP (también es su espacio de nombres).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Configurar Kestrel en http://localhost:5052 (launchSettings.json).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Agregar las dependencias: SoapCore 1.2.1.16.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3FAB9C4-D7D8-9A5B-CB64-26A7371164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F18AA-977F-9374-C2D1-70A68ED6AB4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B74DF-9046-EBA1-B75D-CF3F86D69DD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93239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73158-FA1F-48FA-54C7-5BBB713FE98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Estructura del proyecto (MVC)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AE088-73C9-4663-6641-180CD8F4500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Controladores: LoginController y ConverterController.</a:t>
            </a:r>
          </a:p>
          <a:p>
            <a:r>
              <a:rPr lang="es-MX"/>
              <a:t>Modelos: DTO de respuesta, datos de conversión por magnitud y enumeraciones.</a:t>
            </a:r>
          </a:p>
          <a:p>
            <a:r>
              <a:rPr lang="es-MX"/>
              <a:t>Servicios: TokenService genera y valida el token de sesión.</a:t>
            </a:r>
          </a:p>
          <a:p>
            <a:r>
              <a:rPr lang="es-MX"/>
              <a:t>Servicios web SOAP (LoginWebService, CatalogWebService y ConverterWebService): exponen las operaciones al exterior.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99F2E35-93C4-5902-AE26-79C3BC907F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6DB6C-822C-457C-3B0C-87DAC6783A6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C3803-B16C-6046-2016-5D1977607ED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20364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65F4-6D03-BE83-0CF2-58109E7E509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Operaciones expuestas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D7F74B-9D59-4F14-0AA0-24E25F2B8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78129-D2E4-C455-11E5-98DCACD5C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12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92134F-7EF5-493B-2F08-6FE06814F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68818"/>
              </p:ext>
            </p:extLst>
          </p:nvPr>
        </p:nvGraphicFramePr>
        <p:xfrm>
          <a:off x="609600" y="1270000"/>
          <a:ext cx="10972800" cy="304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2578632108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260403656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82031835"/>
                    </a:ext>
                  </a:extLst>
                </a:gridCol>
                <a:gridCol w="3606800">
                  <a:extLst>
                    <a:ext uri="{9D8B030D-6E8A-4147-A177-3AD203B41FA5}">
                      <a16:colId xmlns:a16="http://schemas.microsoft.com/office/drawing/2014/main" val="3581822446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Operación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Salida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Descripción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29896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usuario, clave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Valida las credenciales y entrega un token de sesión.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125678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Catálogo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lista de unidades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Devuelve las unidades disponibles de una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94866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Conversión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magnitud, valor, desde, hacia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resultado,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Convierte un valor entre dos unidades de la misma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072313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E2FAF9C-2D43-4B81-568F-691963CCD920}"/>
              </a:ext>
            </a:extLst>
          </p:cNvPr>
          <p:cNvSpPr txBox="1"/>
          <p:nvPr/>
        </p:nvSpPr>
        <p:spPr>
          <a:xfrm>
            <a:off x="609600" y="4572000"/>
            <a:ext cx="10972800" cy="323165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s-MX" sz="1500">
                <a:solidFill>
                  <a:srgbClr val="5F6B72"/>
                </a:solidFill>
                <a:latin typeface="Segoe UI" panose="020B0502040204020203" pitchFamily="34" charset="0"/>
              </a:rPr>
              <a:t>Rutas en este proyecto:  login → /LoginWebService.svc  ·  catálogo → /CatalogWebService.svc  ·  conversión → /ConverterWebService.svc</a:t>
            </a:r>
            <a:endParaRPr lang="es-EC" sz="15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998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6C0B-42FD-C8BE-6651-F6BEFBE7573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Magnitudes y unidades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01B398-F37D-EABB-E6BE-8A580ECEA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6AA7A-6492-3FCC-EDAC-111944E83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13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0E64BC-F2EA-3069-A0BE-9AD08B3BC966}"/>
              </a:ext>
            </a:extLst>
          </p:cNvPr>
          <p:cNvSpPr/>
          <p:nvPr/>
        </p:nvSpPr>
        <p:spPr>
          <a:xfrm>
            <a:off x="6096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Longitud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m · cm · ft · yd · mi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87D9E3-1200-E08B-A33D-5F92B80BB37C}"/>
              </a:ext>
            </a:extLst>
          </p:cNvPr>
          <p:cNvSpPr/>
          <p:nvPr/>
        </p:nvSpPr>
        <p:spPr>
          <a:xfrm>
            <a:off x="35560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22E4053-523B-2DC8-3375-12A028734E7E}"/>
              </a:ext>
            </a:extLst>
          </p:cNvPr>
          <p:cNvSpPr/>
          <p:nvPr/>
        </p:nvSpPr>
        <p:spPr>
          <a:xfrm>
            <a:off x="43688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Masa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g · kg · oz · lb · qq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FB049DA-2D6D-E804-E1D8-CB1F280D58B7}"/>
              </a:ext>
            </a:extLst>
          </p:cNvPr>
          <p:cNvSpPr/>
          <p:nvPr/>
        </p:nvSpPr>
        <p:spPr>
          <a:xfrm>
            <a:off x="73152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92E21D0-9F35-85E2-7E58-64C826B9A0BE}"/>
              </a:ext>
            </a:extLst>
          </p:cNvPr>
          <p:cNvSpPr/>
          <p:nvPr/>
        </p:nvSpPr>
        <p:spPr>
          <a:xfrm>
            <a:off x="81280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Volumen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mL · L · m3 · ft3 · gal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C2BC4E-22AF-CB1C-7D72-C8535AA1CF52}"/>
              </a:ext>
            </a:extLst>
          </p:cNvPr>
          <p:cNvSpPr/>
          <p:nvPr/>
        </p:nvSpPr>
        <p:spPr>
          <a:xfrm>
            <a:off x="110744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BCCF9F3-1563-A5B1-DA13-AEEA2F00D0E1}"/>
              </a:ext>
            </a:extLst>
          </p:cNvPr>
          <p:cNvSpPr/>
          <p:nvPr/>
        </p:nvSpPr>
        <p:spPr>
          <a:xfrm>
            <a:off x="6096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Tiempo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ms · s · min · h · d · w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A4D9B98-CD78-92E0-E616-7751A67DE495}"/>
              </a:ext>
            </a:extLst>
          </p:cNvPr>
          <p:cNvSpPr/>
          <p:nvPr/>
        </p:nvSpPr>
        <p:spPr>
          <a:xfrm>
            <a:off x="35560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B06C142-B3DA-F297-33BE-4A0955EF38C7}"/>
              </a:ext>
            </a:extLst>
          </p:cNvPr>
          <p:cNvSpPr/>
          <p:nvPr/>
        </p:nvSpPr>
        <p:spPr>
          <a:xfrm>
            <a:off x="43688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Temperatura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°C · °F · K · °N · °Ré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E1E2284-8D2C-A369-BB53-D43FBE5FCCC6}"/>
              </a:ext>
            </a:extLst>
          </p:cNvPr>
          <p:cNvSpPr/>
          <p:nvPr/>
        </p:nvSpPr>
        <p:spPr>
          <a:xfrm>
            <a:off x="73152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CCD7A45-2B35-E30A-89F6-C8BD197D89A2}"/>
              </a:ext>
            </a:extLst>
          </p:cNvPr>
          <p:cNvSpPr/>
          <p:nvPr/>
        </p:nvSpPr>
        <p:spPr>
          <a:xfrm>
            <a:off x="81280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Área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cm2 · m2 · km2 · ha · ft2 · ac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7FD47A-70F1-9208-38AE-7619DBDCD64F}"/>
              </a:ext>
            </a:extLst>
          </p:cNvPr>
          <p:cNvSpPr/>
          <p:nvPr/>
        </p:nvSpPr>
        <p:spPr>
          <a:xfrm>
            <a:off x="110744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420263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64B5D-8B98-D2DD-5368-8D58F8F4A0A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Código clave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F3439-3871-5585-49C1-3757FF7DFD2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[ServiceContract]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public interface IConverterWebService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[OperationContract]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ConverterResponseDTO Convert(string token, string type,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double value, string from, string to);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// Program.cs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builder.Services.AddSoapCore();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builder.Services.AddSingleton&lt;IConverterWebService,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ConverterWebService&gt;();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app.UseEndpoints(endpoints =&gt;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_ = endpoints.UseSoapEndpoint&lt;IConverterWebService&gt;(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"/ConverterWebService.svc",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new SoapEncoderOptions(), SoapSerializer.XmlSerializer);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});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6EB7F-8CAF-5D1F-5E05-124982840E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[ServiceContract] y [OperationContract] definen el contrato; SoapCore lo publica como endpoint .svc con su WSDL.</a:t>
            </a:r>
          </a:p>
          <a:p>
            <a:r>
              <a:rPr lang="es-MX"/>
              <a:t>El servidor registra tres servicios (Login, Catalog y Converter) y cada uno valida el token antes de responder.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E17FD5-2385-106A-17E3-A774E00811E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9D0FC-CA61-A197-84B0-8D48BF0581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65227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04DB-03BC-349B-CB4D-AAFF1BE6113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Ejecución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89228-5031-A229-26C1-2A05B84C3C63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Ejecutar el servidor desde Visual Studio 2026 o con dotnet run.</a:t>
            </a:r>
          </a:p>
          <a:p>
            <a:r>
              <a:rPr lang="es-MX"/>
              <a:t>Comprobar el WSDL en http://localhost:5052/LoginWebService.svc?wsdl.</a:t>
            </a:r>
          </a:p>
          <a:p>
            <a:r>
              <a:rPr lang="es-MX"/>
              <a:t>Usuario de prueba: user / 1234.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D754278-F46B-E350-7245-9EA8C2048D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2B68EB-CC8B-49F8-9590-260738B0D7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F4A0F-6EC6-9DD9-42B1-C180454CC27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456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7642-676E-B142-B89A-3CE5995F506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532FD-B886-BDCE-7CEB-6262C11EDF1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06EC3A-49DE-B7FB-80D5-7842825BBAE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.NET 10 + cliente WCF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7777666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E412-DD32-EC56-D277-AD69342ED54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consola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7B71E-BD58-A3EF-B5D0-91181F4FDA1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CONSOLE_CON_UNI_DOTNET_SOAP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menú en la terminal.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06787DD-CD51-FABB-F1EE-EB46B82E1FE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A0CCB-7E77-8D66-C519-40B00C951C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44EB7-64AF-E768-4956-B4E5805EC51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907004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EC45D-FEFA-1478-2C56-CA3F7723513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AEFC8-0807-00E5-2299-3CE3D80980D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internal class LoginHTTP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private readonly LoginWebServiceClient _client;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public LoginHTTP()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_client = new LoginWebServiceClient();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public async Task&lt;LoginResponseDTO?&gt; LoginAsync(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string username, string password)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var response = await _client.LoginAsync(username, password);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return response.Body.LoginResult;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2B24EF-7A3C-74C9-6C54-DEF8F61E45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LoginWebServiceClient es el cliente WCF generado desde el WSDL del servidor.</a:t>
            </a:r>
          </a:p>
          <a:p>
            <a:r>
              <a:rPr lang="es-MX"/>
              <a:t>La llamada es asíncrona (async/await) y devuelve el DTO con estado, mensaje y token.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8A2E8-DAD0-0E3D-3F52-0F3E636C3DE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D5799-B91B-A876-B095-88C0BE731A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31940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71589-F394-43E5-40F6-03780470AE4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FA01D9-EB8C-C48B-AFC2-D37CFF2410E8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8DC98-67FA-EC4C-167E-54B67D28E5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E3D1E51-BAD3-C90C-CDEC-413D329BCB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3C3716-2EC6-ECF0-25A3-D9AE764C4D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0A18BC2-DBF8-3E14-0DEF-D58ADE14C9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33192C6-C46D-5F6F-CE87-9B24B36C1E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92222BF-82E8-63F1-9C7F-0D70DBE17D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7D06682-5B5B-C7C2-48DF-521EA41DDD4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911168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82C1E-5A4C-AD7B-170E-13CD61187B9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4A5A-C2D0-E17D-1F59-DB44565AD3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92212C-2EEF-A8B3-699F-7DCD95AFA4C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WinForms + WCF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449416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D0539-C3AA-2F29-64D1-EAD88B36B020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escritorio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89EA58-E17F-06A9-143C-5481911788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ESC_CON_UNI_DOTNET_SOAP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ventanas de login y principal.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2D1C165-771B-52E5-2606-20872AD112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C56BE-6543-6CC3-5F06-84F84079973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17CA9-3CF2-0CDF-5067-42EB7A7A542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133360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CDE76-141B-8C4A-F00B-0FE9392E9FB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D82278-D79E-F195-6ADB-50329F5DB9F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var binding = new BasicHttpBinding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OpenTimeout = TiempoConexion,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SendTimeout = TiempoPeticion,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ReceiveTimeout = TiempoPeticion,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MaxReceivedMessageSize = int.MaxValue,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return new ConversorServicio(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new CanalLogin(new ChannelFactory&lt;ILoginWebService&gt;(binding,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new EndpointAddress(urlBase + "/LoginWebService.svc"))),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new CanalCatalogo(new ChannelFactory&lt;ICatalogWebService&gt;(binding,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new EndpointAddress(urlBase + "/CatalogWebService.svc"))),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new CanalConversor(new ChannelFactory&lt;IConverterWebService&gt;(binding,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new EndpointAddress(urlBase + "/ConverterWebService.svc"))),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sesion);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A8AF34-9793-D88F-FF58-6E72CF9E4E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Crea un canal WCF (ChannelFactory) por cada servicio .svc con BasicHttpBinding, el enlace SOAP básico.</a:t>
            </a:r>
          </a:p>
          <a:p>
            <a:r>
              <a:rPr lang="es-MX"/>
              <a:t>Los tiempos de espera (5 s y 15 s) evitan esperas sin fin si el servidor no responde.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2A841-DD3B-6098-EA15-D63D9F99707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DFB742-37C6-B962-4703-75ECD4E0C22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93346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B3AE8-84C4-EC47-417B-BFB8518EC87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1E0F6E-5C9D-2891-8A3A-D6891F3BC860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2C9802-9BB7-4D8D-FF37-FBC3E7CA88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622228A-18B6-9F4F-AEC3-5513DE9B9E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4D3A01-A5DF-9E33-A4F4-611CCFF19E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A30F637-325F-248D-23BC-02AD73C689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207E7F5-CEC2-FA59-A63A-C0E07B9169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0721A1E-23B0-0C8E-E1AE-E426171CBB5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4E1EE34-B35B-C192-94E7-2E3EDCDE46A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839663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AA63-5A5C-AB2C-AD2F-C694D76053C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C5B397-C458-0BCC-9AA7-D47ACEF3023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05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DBC270-B938-D55D-F06B-AD96E232A80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ASP.NET Core MVC + WCF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35712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3C505-FEA4-C330-9D74-1F68134936B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web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315CC-0676-94B3-DE0C-B529ABFA410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WEB_CON_UNI_DOTNET_SOAP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páginas de login, menú,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452FD48-08CD-2C1E-5EE7-59B8B491693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5AC6B-B099-2F7C-7B8E-22181039AED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7F5CD-52B9-C51B-E6DD-58BF87AF196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84066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BC2DC-FF9C-696F-F8F2-09B13409A8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F3EB26-8F09-A213-0065-1661427AF74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[HttpPost("/login")]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public async Task&lt;IActionResult&gt; Ingresar(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string? usuario, string? clave)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var vista = new LoginVista { Usuario = usuario ?? "" };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// ... validación de campos vacíos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var sesion = new Sesion();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try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await fabrica.CrearServicio(sesion)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.IniciarSesionAsync(usuario.Trim(), clave);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catch (ServicioException 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vista.Error = e.Message;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return await VistaAsync(vista);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SesionUsuario.Guardar(HttpContext, sesion);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return Redirect("~/menu");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3ED04C-DD32-D005-5F14-AF65141A1F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El controlador MVC recibe el formulario y llama al servidor SOAP a través de FabricaServicios (canales WCF).</a:t>
            </a:r>
          </a:p>
          <a:p>
            <a:r>
              <a:rPr lang="es-MX"/>
              <a:t>Si el login falla, vuelve a mostrar la vista con el mensaje; si funciona, guarda la sesión y va al menú.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91694B-BC5A-3E9E-DCA9-3327B8D4CE8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057BD-C730-0BDF-74F8-A9CB0F0A0E2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87863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72C80-7331-4BD8-D577-3E06D1E9BFA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7697BB-0377-7D72-64C4-44528B6C2AE9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82C8FF-C3D3-823F-F524-C2C5166D6A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25306C0-82DB-6E5C-404C-2457260A11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DB6731F-7361-5A2C-D962-3A5F3350CF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24E92DA-8C8F-6B48-7CAC-E3A40456E5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41894-5BE6-AD16-664D-2CEFA6E83A3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71992C6-2591-099F-DFAF-96D43759490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603AC02-F39D-10BF-AFA3-F71A773320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18622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26FF9-A652-ADB9-BB45-A985545933F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349C1-9AC7-287A-7817-66D8BA34F1A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06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B80F7E-EBD6-AF6F-20F7-A716DED56EC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.NET MAUI (Android)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75757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6471-A72C-892B-CD7E-6F996EA439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móvil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D992B-CAE8-61CF-EAED-43285099FD9E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MOV_CON_UNI_DOTNET_SOAP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pantallas de login,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AA8EB03-A73F-B7D6-B129-D9478E3196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93E341-943B-AA3F-670E-E0654BDB4DF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DFFE2-E7AB-0430-33A2-101C36DC733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583148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48AC-2FE6-9A01-CD45-8C44078EA6C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B5144-A6B8-C041-84BA-1FB6704F92F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var client = new SoapLogin.LoginWebServiceClient(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SoapLogin.LoginWebServiceClient.EndpointConfiguration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.BasicHttpBinding_ILoginWebService_soap,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SoapConfig.BaseUrl + "/LoginWebService.svc");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try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var response = await client.LoginAsync(username, password);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await client.CloseAsync();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var dto = response.Body.LoginResult;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return new LoginResult(dto.estado == SoapLogin.EstadosEnum.OK,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dto.mensaje ?? "", dto.token);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catch (Exception ex) when (ex is CommunicationException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                       or TimeoutException)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client.Abort();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return new LoginResult(false,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"No se pudo conectar con el servidor", null);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A2B0E7-A824-A64D-CD4D-F66FF99B63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La app MAUI usa el cliente WCF generado y apunta a la IP de la PC en la red (SoapConfig.BaseUrl).</a:t>
            </a:r>
          </a:p>
          <a:p>
            <a:r>
              <a:rPr lang="es-MX"/>
              <a:t>Si no hay conexión o se agota el tiempo, cierra el canal y muestra "No se pudo conectar con el servidor".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FC2CA-5D79-9597-477F-EF0349A6FE6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D01BE-3765-58D0-6B4E-622DAFD2FA6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352579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FEEF6-4F9C-0B29-15E2-0E705A4C547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5FEDFB-092B-83A7-B8F8-81299EE7CEF6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85FEB8-63EE-9730-C9EF-E21CB7CEE5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0514A06-AB3B-868C-6C0B-01485FB675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B85055B-9714-C4F9-845D-2DEA435574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9E6049-EA1D-0F22-B327-4295D73947C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59EDDF4-DF4F-055E-C395-37491BB82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4F438CD-A264-7DAA-EAD1-D84E408A20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42A516D-70CA-898E-63C0-4967BE4A4C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350858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5F425-186C-A7A4-77D6-36EFE86D20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A1F76-A4B0-287E-0E25-CBE9306C367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741968-877C-E439-71AD-D2E45866A2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Casos verificados contra el servidor</a:t>
            </a:r>
          </a:p>
        </p:txBody>
      </p:sp>
    </p:spTree>
    <p:extLst>
      <p:ext uri="{BB962C8B-B14F-4D97-AF65-F5344CB8AC3E}">
        <p14:creationId xmlns:p14="http://schemas.microsoft.com/office/powerpoint/2010/main" val="27561734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07AB3-7C5F-8A4E-54B7-AB514E04DD7C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Casos de prueba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EEBA00-91B0-3B8C-F84B-A2E0FD546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499A9-3482-F69C-3494-1F5F0BAF0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33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5BC371-BB1C-06E6-70D3-F322502849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014594"/>
              </p:ext>
            </p:extLst>
          </p:nvPr>
        </p:nvGraphicFramePr>
        <p:xfrm>
          <a:off x="609600" y="1244600"/>
          <a:ext cx="10972800" cy="4686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8800">
                  <a:extLst>
                    <a:ext uri="{9D8B030D-6E8A-4147-A177-3AD203B41FA5}">
                      <a16:colId xmlns:a16="http://schemas.microsoft.com/office/drawing/2014/main" val="3554995725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39234117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2084450154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136766878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41006150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#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Caso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Resultado esperado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¿Cumple?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37810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1234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Ingresa al menú principal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135492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incorrecto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clave errónea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Credenciales Incorrectas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07193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Longitud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mi →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1609,344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29363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Temperatura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100 °C →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212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93374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Masa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kg →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2,2046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080631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Volumen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gal →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3,7854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447538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7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Valor no numérico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abc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Mensaje de validación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90224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8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 apagado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cualquier acción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No se pudo conectar con el servidor</a:t>
                      </a:r>
                      <a:endParaRPr lang="es-EC" sz="13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9410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23678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4B8B0-5817-2425-DFF9-11E0DC759CC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Evidencia de 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16852-FC55-0E01-3F7B-668F58B60E8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107 pruebas automáticas: escritorio (59) y web (48).</a:t>
            </a:r>
          </a:p>
          <a:p>
            <a:r>
              <a:rPr lang="es-MX"/>
              <a:t>Herramienta usada: xUnit.</a:t>
            </a:r>
          </a:p>
          <a:p>
            <a:r>
              <a:rPr lang="es-MX"/>
              <a:t>El servidor se probó además con SoapUI (DOTNET-Server-soapui-project.xml).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9BA8C61-C5D4-0FD9-DA95-748C3C90599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F573E-915F-5796-A0D4-4549B32BB4F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1CCE1C-E9C2-6035-B34A-C12A42B5060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34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81616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3CA9F-6A56-BA6F-68B7-8C4273F4B6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Conclusiones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E5AAD-97D5-5136-FD7D-33997D1D4F47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El servidor SOAP fue consumido por cuatro clientes distintos sin cambiar su lógica, lo que muestra la interoperabilidad de una arquitectura orientada a servicios.</a:t>
            </a:r>
          </a:p>
          <a:p>
            <a:r>
              <a:rPr lang="es-MX"/>
              <a:t>La autenticación por token separa la seguridad de la lógica de conversión.</a:t>
            </a:r>
          </a:p>
          <a:p>
            <a:r>
              <a:rPr lang="es-MX"/>
              <a:t>Aplicar MVC en cada cliente permitió repetir la misma estructura en consola, escritorio, web y móvil.</a:t>
            </a:r>
          </a:p>
          <a:p>
            <a:r>
              <a:rPr lang="es-MX"/>
              <a:t>SoapCore permitió publicar servicios SOAP con su contrato WSDL sobre ASP.NET Core, sin depender de WCF en el servidor.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E3845A-01D1-D545-FF19-1BA1CC383B1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DDDF2-3D72-1935-D452-7A34B1BA227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89221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8FD-4311-03ED-5801-43E4F507F96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Recomendaciones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8539F-51E5-371D-F191-6F99C3B0F1F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Usar una base de datos para los usuarios y el historial de conversiones.</a:t>
            </a:r>
          </a:p>
          <a:p>
            <a:r>
              <a:rPr lang="es-MX"/>
              <a:t>Usar HTTPS y WS-Security para proteger el token en la red.</a:t>
            </a:r>
          </a:p>
          <a:p>
            <a:r>
              <a:rPr lang="es-MX"/>
              <a:t>Validar en el servidor que las dos unidades pertenezcan a la magnitud elegida.</a:t>
            </a:r>
          </a:p>
          <a:p>
            <a:r>
              <a:rPr lang="es-MX"/>
              <a:t>Regenerar las referencias de servicio de los clientes cada vez que cambie el contrato WSDL del servidor.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D6C23B-EDEE-DB9D-443E-930FA32BE1C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885704-F5E0-FE3F-3F1E-1981BC3ECF5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00316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C8F2E-F76F-2ADE-4387-2E3B9330898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Referencias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DD1090-5D05-E403-4DC1-5DFD76DD6552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s-EC" sz="1500"/>
              <a:t>Fielding, R. T. (2000). Architectural styles and the design of network-based software architectures [Tesis doctoral]. University of California, Irvine.</a:t>
            </a:r>
          </a:p>
          <a:p>
            <a:pPr>
              <a:spcAft>
                <a:spcPts val="1200"/>
              </a:spcAft>
            </a:pPr>
            <a:r>
              <a:rPr lang="es-EC" sz="1500"/>
              <a:t>Fowler, M. (2002). Patterns of enterprise application architecture. Addison-Wesley.</a:t>
            </a:r>
          </a:p>
          <a:p>
            <a:pPr>
              <a:spcAft>
                <a:spcPts val="1200"/>
              </a:spcAft>
            </a:pPr>
            <a:r>
              <a:rPr lang="es-EC" sz="1500"/>
              <a:t>W3C. (2007). SOAP version 1.2 part 1: Messaging framework (2.ª ed.). https://www.w3.org/TR/soap12-part1/</a:t>
            </a:r>
          </a:p>
          <a:p>
            <a:pPr>
              <a:spcAft>
                <a:spcPts val="1200"/>
              </a:spcAft>
            </a:pPr>
            <a:r>
              <a:rPr lang="es-EC" sz="1500"/>
              <a:t>SoapCore. (2026). SOAP extension for ASP.NET Core. https://github.com/DigDes/SoapCore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1B1E42-036D-5B66-AF03-7C9ACC4226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DBBFDE-6697-BF27-AC4A-723CD418FB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267295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9246-C706-5D6A-69E2-B794BBBE536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Gracias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61555-8F32-705E-29E4-BD198BE7EA5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3794495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A30"/>
      </a:dk1>
      <a:lt1>
        <a:srgbClr val="FFFFFF"/>
      </a:lt1>
      <a:dk2>
        <a:srgbClr val="0E4D5C"/>
      </a:dk2>
      <a:lt2>
        <a:srgbClr val="EAF2F3"/>
      </a:lt2>
      <a:accent1>
        <a:srgbClr val="0E4D5C"/>
      </a:accent1>
      <a:accent2>
        <a:srgbClr val="E8A33D"/>
      </a:accent2>
      <a:accent3>
        <a:srgbClr val="2F7F8F"/>
      </a:accent3>
      <a:accent4>
        <a:srgbClr val="8AB6BE"/>
      </a:accent4>
      <a:accent5>
        <a:srgbClr val="C9643B"/>
      </a:accent5>
      <a:accent6>
        <a:srgbClr val="5F6B72"/>
      </a:accent6>
      <a:hlink>
        <a:srgbClr val="2F7F8F"/>
      </a:hlink>
      <a:folHlink>
        <a:srgbClr val="6E8A91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2984</Words>
  <Application>Microsoft Office PowerPoint</Application>
  <PresentationFormat>Widescreen</PresentationFormat>
  <Paragraphs>458</Paragraphs>
  <Slides>38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Aptos</vt:lpstr>
      <vt:lpstr>Arial</vt:lpstr>
      <vt:lpstr>Consolas</vt:lpstr>
      <vt:lpstr>Segoe UI</vt:lpstr>
      <vt:lpstr>Segoe UI Semibold</vt:lpstr>
      <vt:lpstr>Office Theme</vt:lpstr>
      <vt:lpstr>Conversión de Unidades SOAP sin BDD en .NET</vt:lpstr>
      <vt:lpstr>Contenido</vt:lpstr>
      <vt:lpstr>Objetivos</vt:lpstr>
      <vt:lpstr>Marco teórico y arquitectura</vt:lpstr>
      <vt:lpstr>SOAP y WSDL</vt:lpstr>
      <vt:lpstr>Arquitectura SOA y patrón MVC</vt:lpstr>
      <vt:lpstr>Tecnologías utilizadas</vt:lpstr>
      <vt:lpstr>Arquitectura del sistema</vt:lpstr>
      <vt:lpstr>Servidor SOAP</vt:lpstr>
      <vt:lpstr>Creación del proyecto</vt:lpstr>
      <vt:lpstr>Estructura del proyecto (MVC)</vt:lpstr>
      <vt:lpstr>Operaciones expuestas</vt:lpstr>
      <vt:lpstr>Magnitudes y unidades</vt:lpstr>
      <vt:lpstr>Código clave del servidor</vt:lpstr>
      <vt:lpstr>Ejecución del servidor</vt:lpstr>
      <vt:lpstr>Cliente consola</vt:lpstr>
      <vt:lpstr>Cliente consola · creación y estructura</vt:lpstr>
      <vt:lpstr>Cliente consola · código clave</vt:lpstr>
      <vt:lpstr>Cliente consola · vistas</vt:lpstr>
      <vt:lpstr>Cliente escritorio</vt:lpstr>
      <vt:lpstr>Cliente escritorio · creación y estructura</vt:lpstr>
      <vt:lpstr>Cliente escritorio · código clave</vt:lpstr>
      <vt:lpstr>Cliente escritorio · vistas</vt:lpstr>
      <vt:lpstr>Cliente web</vt:lpstr>
      <vt:lpstr>Cliente web · creación y estructura</vt:lpstr>
      <vt:lpstr>Cliente web · código clave</vt:lpstr>
      <vt:lpstr>Cliente web · vistas</vt:lpstr>
      <vt:lpstr>Cliente móvil</vt:lpstr>
      <vt:lpstr>Cliente móvil · creación y estructura</vt:lpstr>
      <vt:lpstr>Cliente móvil · código clave</vt:lpstr>
      <vt:lpstr>Cliente móvil · vistas</vt:lpstr>
      <vt:lpstr>Pruebas</vt:lpstr>
      <vt:lpstr>Casos de prueba</vt:lpstr>
      <vt:lpstr>Evidencia de pruebas</vt:lpstr>
      <vt:lpstr>Conclusiones</vt:lpstr>
      <vt:lpstr>Recomendaciones</vt:lpstr>
      <vt:lpstr>Referencias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</dc:creator>
  <cp:lastModifiedBy>Carlos</cp:lastModifiedBy>
  <cp:revision>2</cp:revision>
  <dcterms:created xsi:type="dcterms:W3CDTF">2026-10-26T18:34:13Z</dcterms:created>
  <dcterms:modified xsi:type="dcterms:W3CDTF">2026-10-27T06:42:24Z</dcterms:modified>
</cp:coreProperties>
</file>