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1"/>
  </p:notesMasterIdLst>
  <p:sldIdLst>
    <p:sldId id="330" r:id="rId2"/>
    <p:sldId id="331" r:id="rId3"/>
    <p:sldId id="332" r:id="rId4"/>
    <p:sldId id="337" r:id="rId5"/>
    <p:sldId id="338" r:id="rId6"/>
    <p:sldId id="339" r:id="rId7"/>
    <p:sldId id="340" r:id="rId8"/>
    <p:sldId id="341" r:id="rId9"/>
    <p:sldId id="390" r:id="rId10"/>
    <p:sldId id="391" r:id="rId11"/>
    <p:sldId id="392" r:id="rId12"/>
    <p:sldId id="393" r:id="rId13"/>
    <p:sldId id="394" r:id="rId14"/>
    <p:sldId id="395" r:id="rId15"/>
    <p:sldId id="396" r:id="rId16"/>
    <p:sldId id="397" r:id="rId17"/>
    <p:sldId id="398" r:id="rId18"/>
    <p:sldId id="399" r:id="rId19"/>
    <p:sldId id="400" r:id="rId20"/>
    <p:sldId id="401" r:id="rId21"/>
    <p:sldId id="402" r:id="rId22"/>
    <p:sldId id="403" r:id="rId23"/>
    <p:sldId id="404" r:id="rId24"/>
    <p:sldId id="405" r:id="rId25"/>
    <p:sldId id="406" r:id="rId26"/>
    <p:sldId id="407" r:id="rId27"/>
    <p:sldId id="408" r:id="rId28"/>
    <p:sldId id="409" r:id="rId29"/>
    <p:sldId id="410" r:id="rId30"/>
    <p:sldId id="411" r:id="rId31"/>
    <p:sldId id="412" r:id="rId32"/>
    <p:sldId id="413" r:id="rId33"/>
    <p:sldId id="414" r:id="rId34"/>
    <p:sldId id="342" r:id="rId35"/>
    <p:sldId id="343" r:id="rId36"/>
    <p:sldId id="344" r:id="rId37"/>
    <p:sldId id="387" r:id="rId38"/>
    <p:sldId id="388" r:id="rId39"/>
    <p:sldId id="389" r:id="rId40"/>
    <p:sldId id="345" r:id="rId41"/>
    <p:sldId id="346" r:id="rId42"/>
    <p:sldId id="347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348" r:id="rId53"/>
    <p:sldId id="349" r:id="rId54"/>
    <p:sldId id="350" r:id="rId55"/>
    <p:sldId id="369" r:id="rId56"/>
    <p:sldId id="370" r:id="rId57"/>
    <p:sldId id="371" r:id="rId58"/>
    <p:sldId id="372" r:id="rId59"/>
    <p:sldId id="373" r:id="rId60"/>
    <p:sldId id="374" r:id="rId61"/>
    <p:sldId id="375" r:id="rId62"/>
    <p:sldId id="376" r:id="rId63"/>
    <p:sldId id="377" r:id="rId64"/>
    <p:sldId id="351" r:id="rId65"/>
    <p:sldId id="352" r:id="rId66"/>
    <p:sldId id="353" r:id="rId67"/>
    <p:sldId id="359" r:id="rId68"/>
    <p:sldId id="360" r:id="rId69"/>
    <p:sldId id="361" r:id="rId70"/>
    <p:sldId id="362" r:id="rId71"/>
    <p:sldId id="363" r:id="rId72"/>
    <p:sldId id="364" r:id="rId73"/>
    <p:sldId id="365" r:id="rId74"/>
    <p:sldId id="366" r:id="rId75"/>
    <p:sldId id="367" r:id="rId76"/>
    <p:sldId id="368" r:id="rId77"/>
    <p:sldId id="354" r:id="rId78"/>
    <p:sldId id="357" r:id="rId79"/>
    <p:sldId id="358" r:id="rId80"/>
  </p:sldIdLst>
  <p:sldSz cx="12192000" cy="6858000"/>
  <p:notesSz cx="6858000" cy="9144000"/>
  <p:embeddedFontLst>
    <p:embeddedFont>
      <p:font typeface="Cambria" panose="02040503050406030204" pitchFamily="18" charset="0"/>
      <p:regular r:id="rId82"/>
      <p:bold r:id="rId83"/>
      <p:italic r:id="rId84"/>
      <p:boldItalic r:id="rId85"/>
    </p:embeddedFont>
    <p:embeddedFont>
      <p:font typeface="Gill Sans" panose="020B0604020202020204" charset="0"/>
      <p:regular r:id="rId86"/>
      <p:bold r:id="rId8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3.fntdata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2.fntdata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6.fntdata"/><Relationship Id="rId61" Type="http://schemas.openxmlformats.org/officeDocument/2006/relationships/slide" Target="slides/slide60.xml"/><Relationship Id="rId82" Type="http://schemas.openxmlformats.org/officeDocument/2006/relationships/font" Target="fonts/font1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MX">
                <a:solidFill>
                  <a:schemeClr val="lt1"/>
                </a:solidFill>
              </a:rPr>
              <a:t>MANUAL</a:t>
            </a:r>
            <a:br>
              <a:rPr lang="es-MX">
                <a:solidFill>
                  <a:schemeClr val="lt1"/>
                </a:solidFill>
              </a:rPr>
            </a:br>
            <a:r>
              <a:rPr lang="es-MX">
                <a:solidFill>
                  <a:schemeClr val="lt1"/>
                </a:solidFill>
              </a:rPr>
              <a:t>CONVERSIÓN UNIDADES SOAP .NET</a:t>
            </a: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7625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tabLst>
                <a:tab pos="1905000" algn="l"/>
              </a:tabLst>
            </a:pPr>
            <a:r>
              <a:rPr lang="es-EC" b="1">
                <a:solidFill>
                  <a:schemeClr val="lt1"/>
                </a:solidFill>
              </a:rPr>
              <a:t>INTEGRANTES:</a:t>
            </a:r>
            <a:r>
              <a:rPr lang="es-EC">
                <a:solidFill>
                  <a:schemeClr val="lt1"/>
                </a:solidFill>
              </a:rPr>
              <a:t>	ESCOBAR MARCOS</a:t>
            </a:r>
            <a:br>
              <a:rPr lang="es-EC">
                <a:solidFill>
                  <a:schemeClr val="lt1"/>
                </a:solidFill>
              </a:rPr>
            </a:br>
            <a:r>
              <a:rPr lang="es-EC">
                <a:solidFill>
                  <a:schemeClr val="lt1"/>
                </a:solidFill>
              </a:rPr>
              <a:t>	ÑATO CARLOS</a:t>
            </a:r>
            <a:br>
              <a:rPr lang="es-EC">
                <a:solidFill>
                  <a:schemeClr val="lt1"/>
                </a:solidFill>
              </a:rPr>
            </a:br>
            <a:r>
              <a:rPr lang="es-EC">
                <a:solidFill>
                  <a:schemeClr val="lt1"/>
                </a:solidFill>
              </a:rPr>
              <a:t>	SOSA DIEGO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4978400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MX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</a:t>
            </a:r>
            <a:r>
              <a:rPr lang="es-MX" sz="160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  [dd/mm/aaaa]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MX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</a:t>
            </a:r>
            <a:r>
              <a:rPr lang="es-MX" sz="160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 CAMPAÑA MAURICIO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MX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NRC:</a:t>
            </a:r>
            <a:r>
              <a:rPr lang="es-MX" sz="160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 36883 – GR04</a:t>
            </a:r>
            <a:endParaRPr sz="160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0196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r>
              <a:rPr lang="es-MX" sz="1700" dirty="0">
                <a:solidFill>
                  <a:srgbClr val="FFFFFF"/>
                </a:solidFill>
                <a:latin typeface="Gill Sans" panose="020B0604020202020204" charset="0"/>
              </a:rPr>
              <a:t>DESARROLLO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 dirty="0">
                <a:solidFill>
                  <a:srgbClr val="FFFFFF"/>
                </a:solidFill>
                <a:latin typeface="Gill Sans" panose="020B0604020202020204" charset="0"/>
              </a:rPr>
              <a:t>OBJETIVO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</a:t>
            </a:r>
            <a:r>
              <a:rPr lang="es-MX" sz="1400" dirty="0">
                <a:solidFill>
                  <a:srgbClr val="FFFFFF"/>
                </a:solidFill>
                <a:latin typeface="Gill Sans" panose="020B0604020202020204" charset="0"/>
              </a:rPr>
              <a:t>DEL SERVIDOR SOAP EN .NET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 dirty="0">
                <a:solidFill>
                  <a:srgbClr val="FFFFFF"/>
                </a:solidFill>
                <a:latin typeface="Gill Sans" panose="020B0604020202020204" charset="0"/>
              </a:rPr>
              <a:t>CREACIÓN DEL PROYECTO – CLIENTE CONSOLA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 dirty="0">
                <a:solidFill>
                  <a:srgbClr val="FFFFFF"/>
                </a:solidFill>
                <a:latin typeface="Gill Sans" panose="020B0604020202020204" charset="0"/>
              </a:rPr>
              <a:t>CREACIÓN DEL PROYECTO – CLIENTE ESCRITORIO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 dirty="0">
                <a:solidFill>
                  <a:srgbClr val="FFFFFF"/>
                </a:solidFill>
                <a:latin typeface="Gill Sans" panose="020B0604020202020204" charset="0"/>
              </a:rPr>
              <a:t>CREACIÓN DEL PROYECTO – CLIENTE WEB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 dirty="0">
                <a:solidFill>
                  <a:srgbClr val="FFFFFF"/>
                </a:solidFill>
                <a:latin typeface="Gill Sans" panose="020B0604020202020204" charset="0"/>
              </a:rPr>
              <a:t>CREACIÓN DEL PROYECTO – CLIENTE MÓVIL</a:t>
            </a:r>
          </a:p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r>
              <a:rPr lang="es-MX" sz="1700">
                <a:solidFill>
                  <a:srgbClr val="FFFFFF"/>
                </a:solidFill>
                <a:latin typeface="Gill Sans" panose="020B0604020202020204" charset="0"/>
              </a:rPr>
              <a:t>CONCLUSIONES</a:t>
            </a:r>
            <a:endParaRPr lang="es-MX" sz="1700" dirty="0">
              <a:solidFill>
                <a:srgbClr val="FFFFFF"/>
              </a:solidFill>
              <a:latin typeface="Gill Sans" panose="020B0604020202020204" charset="0"/>
            </a:endParaRPr>
          </a:p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r>
              <a:rPr lang="es-MX" sz="1700" dirty="0">
                <a:solidFill>
                  <a:srgbClr val="FFFFFF"/>
                </a:solidFill>
                <a:latin typeface="Gill Sans" panose="020B0604020202020204" charset="0"/>
              </a:rPr>
              <a:t>RECOMENDACIONES</a:t>
            </a:r>
          </a:p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endParaRPr sz="1700" dirty="0">
              <a:solidFill>
                <a:srgbClr val="FFFFFF"/>
              </a:solidFill>
              <a:latin typeface="Gill Sans" panose="020B0604020202020204" charset="0"/>
            </a:endParaRPr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850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1.1	OBJETIVO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Objetivo general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Desarrollar un sistema de conversión de unidades basado en un servicio web SOAP en .NET, sin base de datos, consumido por clientes de consola, escritorio, web y móvil.</a:t>
            </a: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Objetivos específicos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Implementar el servidor SOAP con autenticación por token y conversión de seis magnitudes.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Construir los cuatro clientes aplicando el patrón MVC.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7256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	CREACIÓN DEL SERVIDOR SOAP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ES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ASP.NET Core + SoapCore · http://localhost:5052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ES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1.2.1	Creación del proyecto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Crear un proyecto ASP.NET Core Web API en Visual Studio 2026.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Nombrarlo WS_CON_UNI_DOTNET_SOAP (también es su espacio de nombres).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Configurar Kestrel en http://localhost:5052 (launchSettings.json).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Agregar las dependencias: SoapCore 1.2.1.16.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3930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1.2.2	Estructura del proyecto (MVC)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Controladores: LoginController y ConverterController.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Modelos: DTO de respuesta, datos de conversión por magnitud y enumeraciones.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Servicios: TokenService genera y valida el token de sesión.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Servicios web SOAP (LoginWebService, CatalogWebService y ConverterWebService): exponen las operaciones al exterior.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B49D76-7F09-6634-85D4-8CBB645D2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87" y="4123997"/>
            <a:ext cx="8145012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6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1.2.3	Operaciones expuestas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22999C-BCB5-FA7F-D928-35F19A83B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686575"/>
              </p:ext>
            </p:extLst>
          </p:nvPr>
        </p:nvGraphicFramePr>
        <p:xfrm>
          <a:off x="584200" y="2680042"/>
          <a:ext cx="8585201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788">
                  <a:extLst>
                    <a:ext uri="{9D8B030D-6E8A-4147-A177-3AD203B41FA5}">
                      <a16:colId xmlns:a16="http://schemas.microsoft.com/office/drawing/2014/main" val="1406091940"/>
                    </a:ext>
                  </a:extLst>
                </a:gridCol>
                <a:gridCol w="1951182">
                  <a:extLst>
                    <a:ext uri="{9D8B030D-6E8A-4147-A177-3AD203B41FA5}">
                      <a16:colId xmlns:a16="http://schemas.microsoft.com/office/drawing/2014/main" val="3804850320"/>
                    </a:ext>
                  </a:extLst>
                </a:gridCol>
                <a:gridCol w="1951182">
                  <a:extLst>
                    <a:ext uri="{9D8B030D-6E8A-4147-A177-3AD203B41FA5}">
                      <a16:colId xmlns:a16="http://schemas.microsoft.com/office/drawing/2014/main" val="1979091512"/>
                    </a:ext>
                  </a:extLst>
                </a:gridCol>
                <a:gridCol w="3382049">
                  <a:extLst>
                    <a:ext uri="{9D8B030D-6E8A-4147-A177-3AD203B41FA5}">
                      <a16:colId xmlns:a16="http://schemas.microsoft.com/office/drawing/2014/main" val="301281235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Operación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Entrada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Salida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Descripción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9013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Login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usuario, clave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token, estado, mensaje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Valida las credenciales y entrega un token de sesión.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62553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Catálogo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token, magnitud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lista de unidades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Devuelve las unidades disponibles de una magnitud.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55118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Conversión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token, magnitud, valor, desde, hacia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resultado, estado, mensaje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Convierte un valor entre dos unidades de la misma magnitud.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10894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C953B56-F15A-6DE3-6099-498169503304}"/>
              </a:ext>
            </a:extLst>
          </p:cNvPr>
          <p:cNvSpPr txBox="1"/>
          <p:nvPr/>
        </p:nvSpPr>
        <p:spPr>
          <a:xfrm>
            <a:off x="584200" y="4417402"/>
            <a:ext cx="8585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Rutas en este proyecto:  login → /LoginWebService.svc  ·  catálogo → /CatalogWebService.svc  ·  conversión → /ConverterWebService.svc</a:t>
            </a:r>
          </a:p>
        </p:txBody>
      </p:sp>
    </p:spTree>
    <p:extLst>
      <p:ext uri="{BB962C8B-B14F-4D97-AF65-F5344CB8AC3E}">
        <p14:creationId xmlns:p14="http://schemas.microsoft.com/office/powerpoint/2010/main" val="1690782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1.2.4	Magnitudes y unidades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AAD0A6-1045-4471-D5C0-F10C0D7CE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102710"/>
              </p:ext>
            </p:extLst>
          </p:nvPr>
        </p:nvGraphicFramePr>
        <p:xfrm>
          <a:off x="584200" y="2680042"/>
          <a:ext cx="8585200" cy="177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6300">
                  <a:extLst>
                    <a:ext uri="{9D8B030D-6E8A-4147-A177-3AD203B41FA5}">
                      <a16:colId xmlns:a16="http://schemas.microsoft.com/office/drawing/2014/main" val="3266884142"/>
                    </a:ext>
                  </a:extLst>
                </a:gridCol>
                <a:gridCol w="6438900">
                  <a:extLst>
                    <a:ext uri="{9D8B030D-6E8A-4147-A177-3AD203B41FA5}">
                      <a16:colId xmlns:a16="http://schemas.microsoft.com/office/drawing/2014/main" val="1125767809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Magnitud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Unidades soportadas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8612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Longitud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 · cm · ft · yd · mi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3995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Masa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g · kg · oz · lb · qq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36674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Volumen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mL · L · m3 · ft3 · gal</a:t>
                      </a:r>
                      <a:endParaRPr lang="es-EC" sz="13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14157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Tiempo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pl-PL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ms · s · min · h · d · w</a:t>
                      </a:r>
                      <a:endParaRPr lang="es-EC" sz="13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06947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Temperatura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pt-BR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°C · °F · K · °N · °Ré</a:t>
                      </a:r>
                      <a:endParaRPr lang="es-EC" sz="13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8838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Área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cm2 · m2 · km2 · ha · ft2 · ac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265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743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1.2.5	Código clave del servidor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[ServiceContract] y [OperationContract] definen el contrato; SoapCore lo publica como endpoint .svc con su WSDL.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El servidor registra tres servicios (Login, Catalog y Converter) y cada uno valida el token antes de responder.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6572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[ServiceContract]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interface IConverterWebService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[OperationContract]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ConverterResponseDTO Convert(string token, string type,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double value, string from, string to);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11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Program.cs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builder.Services.AddSoapCore();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builder.Services.AddSingleton&lt;IConverterWebService,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ConverterWebService&gt;();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app.UseEndpoints(endpoints =&gt;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_ = endpoints.UseSoapEndpoint&lt;IConverterWebService&gt;(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"/ConverterWebService.svc",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new SoapEncoderOptions(), SoapSerializer.XmlSerializer);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994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1.2.6	Código fuente del servidor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Program.cs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Configuración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Program.cs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50195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var builder = WebApplication.CreateBuilder(args);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builder.Services.AddSoapCore();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builder.Services.AddSingleton&lt;ILoginWebService, LoginWebService&gt;();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builder.Services.AddSingleton&lt;ICatalogWebService, CatalogWebService&gt;();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builder.Services.AddSingleton&lt;IConverterWebService, ConverterWebService&gt;();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var app = builder.Build();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app.UseRouting();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app.UseEndpoints(endpoints =&gt;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_ = endpoints.UseSoapEndpoint&lt;ILoginWebService&gt;(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"/LoginWebService.svc",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new SoapEncoderOptions(),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SoapSerializer.XmlSerializer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_ = endpoints.UseSoapEndpoint&lt;ICatalogWebService&gt;(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"/CatalogWebService.svc",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new SoapEncoderOptions(),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SoapSerializer.XmlSerializer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367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Program.cs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ICatalogWebService.cs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Contrato del servicio web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159147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Program.cs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_ = endpoints.UseSoapEndpoint&lt;IConverterWebService&gt;(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"/ConverterWebService.svc",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new SoapEncoderOptions(),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SoapSerializer.XmlSerializer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app.Run();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ICatalogWebService.cs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WS_CON_UNI_DOTNET_SOAP.WS.Interfaces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[ServiceContract]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interface ICatalogWebService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[OperationContract]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CatalogResponseDTO GetCatalog(string type, string 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663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IConverterWebService.cs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Contrato del servicio web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ILoginWebService.cs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Contrato del servicio web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814375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IConverterWebService.cs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WS_CON_UNI_DOTNET_SOAP.WS.Interfaces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[ServiceContract]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interface IConverterWebService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[OperationContract]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ConverterResponseDTO Convert(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string token,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string type,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double value,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string from,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string to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ILoginWebService.cs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WS_CON_UNI_DOTNET_SOAP.WS.Interfaces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[ServiceContract]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interface ILoginWebService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[OperationContract]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LoginResponseDTO Login(string username, string password);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223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CatalogWebService.cs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Servicio web SOAP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WS/Services/CatalogWebService.cs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02793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WS_CON_UNI_DOTNET_SOAP.WS.Services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CatalogWebService : ICatalogWebService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static string FormatType(string text)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if (string.IsNullOrEmpty(text))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text;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char.ToUpper(text[0]) + text.Substring(1).ToLower();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CatalogResponseDTO GetCatalog(string type, string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type = FormatType(type);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if (!LoginController.validateUser(token))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new CatalogResponseDTO(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EstadosEnum.ERROR,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"Token Inválido",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new HashSet&lt;string&gt;()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2248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CatalogWebService.cs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ConverterWebService.cs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Servicio web SOAP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65353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CatalogWebService.cs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new CatalogResponseDTO(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EstadosEnum.OK,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"Obtención de Catálogo Exitosa",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ConverterController.GetConverter(type).GetUnits().ToHashSet()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catch (Exception)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new CatalogResponseDTO(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EstadosEnum.ERROR,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"Tipo de Catálogo Inexistente",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new HashSet&lt;string&gt;()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ConverterWebService.cs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WS_CON_UNI_DOTNET_SOAP.WS.Services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ConverterWebService : IConverterWebService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ConverterResponseDTO Convert(string token, string type, double value, string from, string to)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if (!LoginController.validateUser(token))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429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ConverterWebService.cs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61275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new ConverterResponseDTO(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EstadosEnum.ERROR,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"Token Inválido",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0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new ConverterResponseDTO(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EstadosEnum.OK,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"Conversión Exitosa",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ConverterController.Convert(type, value, from, to)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catch (Exception)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new ConverterResponseDTO(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EstadosEnum.ERROR,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"No se pudo hacer la conversión",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0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863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LoginWebService.cs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Servicio web SOAP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WS/Services/LoginWebService.cs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35071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WS_CON_UNI_DOTNET_SOAP.WS.Services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LoginWebService : ILoginWebService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LoginResponseDTO Login(string username, string password)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LoginResponseDTO dto;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token = LoginController.login(username, password);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dto = new LoginResponseDTO(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EstadosEnum.OK,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"Ingreso de Sesión Exitoso!",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token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catch (Exception 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dto = new LoginResponseDTO(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EstadosEnum.ERROR,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"Credenciales Incorrectas",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""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190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LoginWebService.cs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ConverterController.cs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Controlador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54364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LoginWebService.cs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dto;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ConverterController.cs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WS_CON_UNI_DOTNET_SOAP.Controllers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ConverterController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IDataConverter GetConverter(string type)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switch (type)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"Area":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return new AreaModel();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"Longitud":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return new LongitudModel();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"Masa":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return new MasaPesoModel();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"Temperatura":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return new TemperaturaModel();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"Tiempo":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return new TiempoModel();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"Volumen":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return new VolumenModel();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default: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throw new Exception("Type Converter not found!");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947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ConverterController.cs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LoginController.cs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Controlador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848335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ConverterController.cs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double Convert(string type, double value, string from, string to)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IDataConverter converter = ConverterController.GetConverter(type);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converter.Convert(value, from, to);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LoginController.cs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WS_CON_UNI_DOTNET_SOAP.Controllers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LoginController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string login(string username, string password)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LoginRepository repository = new LoginImplRepository();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repository.ValidateCredentials(username, password);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bool validateUser(string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TokenService.ValidateToken(token);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26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TokenService.cs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Servicio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Services/TokenService.cs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363426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WS_CON_UNI_DOTNET_SOAP.Services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TokenService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static readonly HashSet&lt;string&gt; tokensActivos = new HashSet&lt;string&gt;();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string GenerateToken()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string token = Guid.NewGuid().ToString();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tokensActivos.Add(token);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token;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bool ValidateToken(string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tokensActivos.Contains(token);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4164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CatalogResponseDTO.cs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DTO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Models/DTO/CatalogResponseDTO.cs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335634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WS_CON_UNI_DOTNET_SOAP.Models.DTO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CatalogResponseDTO : ResponseDTO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HashSet&lt;string&gt; resultado { get; set;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CatalogResponseDTO()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this.resultado = [];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CatalogResponseDTO(EstadosEnum estado, string mensaje, HashSet&lt;string&gt; resultado) : base(estado, mensaje)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this.resultado = 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436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ConverterResponseDTO.cs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DTO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Models/DTO/ConverterResponseDTO.cs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79503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WS_CON_UNI_DOTNET_SOAP.Models.DTO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ConverterResponseDTO : ResponseDTO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double resultado { get; set;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ConverterResponseDTO() {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ConverterResponseDTO(EstadosEnum estado, String mensaje, double resultado) : base(estado, mensaje)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this.resultado = 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121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LoginResponseDTO.cs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DTO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Models/DTO/LoginResponseDTO.cs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04602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WS_CON_UNI_DOTNET_SOAP.Models.DTO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LoginResponseDTO : ResponseDTO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string? token { get; set;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LoginResponseDTO() {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LoginResponseDTO(EstadosEnum estado, string mensaje, string token) : base(estado, mensaje)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this.token = token;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487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ResponseDTO.cs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DTO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EstadosEnum.cs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Enumeración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954954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ResponseDTO.cs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WS_CON_UNI_DOTNET_SOAP.Models.DTO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ResponseDTO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EstadosEnum estado { get; set;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string? mensaje { get; set;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ResponseDTO() {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ResponseDTO(EstadosEnum estado, string mensaje)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this.estado = estado;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this.mensaje = mensaje;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EstadosEnum.cs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WS_CON_UNI_DOTNET_SOAP.Models.Enums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enum EstadosEnum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OK,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ERROR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9277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IDataConverter.cs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Interfaz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Models/Interfaces/IDataConverter.cs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09238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WS_CON_UNI_DOTNET_SOAP.Models.Interfaces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interface IDataConverter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Dictionary&lt;string, double&gt; ToMap();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double Convert(double value, string from, string to)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Dictionary&lt;string, double&gt; map = ToMap();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if (!map.ContainsKey(from) || !map.ContainsKey(to))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0;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double valueFrom = map[from];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double valueTo = map[to];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value * valueFrom / valueTo;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IEnumerable&lt;string&gt; GetUnits()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ToMap().Keys;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695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LoginRepository.cs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Interfaz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pt-BR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LoginImplRepository.cs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pt-BR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Repositorio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812962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LoginRepository.cs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WS_CON_UNI_DOTNET_SOAP.Models.Interfaces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interface LoginRepository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abstract string ValidateCredentials(string username, string password);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LoginImplRepository.cs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WS_CON_UNI_DOTNET_SOAP.Models.Repositories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LoginImplRepository : LoginRepository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Dictionary&lt;string, string&gt; users;  // HashMap&lt;username, password&gt;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LoginImplRepository()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this.users = new Dictionary&lt;string, string&gt;();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// Credentials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this.users.Add("monster", "monster9");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856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LoginImplRepository.cs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11972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ValidateCredentials(string username, string password)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// No DB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string localUsername = username;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string localPassword = this.users[localUsername];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if (!localUsername.Equals(username) || !localPassword.Equals(password))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throw new Exception("Invalid User");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TokenService.GenerateToken();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425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AreaModel.cs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Models/Data/AreaModel.cs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305715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WS_CON_UNI_DOTNET_SOAP.Models.Data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AreaModel : IDataConverter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squareCentimeter = 0.0001;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squareMeter = 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squareKilometer = 1000000;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hectare = 10000;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squareFeet = 0.092903;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acre = 4046.86;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Dictionary&lt;string, double&gt; ToMap()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Dictionary&lt;string, double&gt; data = new Dictionary&lt;string, double&gt;();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data.Add("cm2", squareCentimeter);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data.Add("m2", squareMeter);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data.Add("km2", squareKilometer);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data.Add("ha", hectare);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data.Add("ft2", squareFeet);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data.Add("ac", acre);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716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LongitudModel.cs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Models/Data/LongitudModel.cs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026403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WS_CON_UNI_DOTNET_SOAP.Models.Data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LongitudModel : IDataConverter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private readonly double kilometer = 1000;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private readonly double hectometer = 100;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private readonly double decameter = 10;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meter = 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private readonly double decimeter = 0.1;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centimeter = 0.01;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private readonly double millimeter = 0.001;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feet = 0.3048;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yard = 0.9144;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mile = 1609.344;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Dictionary&lt;string, double&gt; ToMap()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Dictionary&lt;string, double&gt; data = new();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// data.Add("km", kilometer);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// data.Add("hm", hectometer);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// data.Add("Dm", decameter);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data.Add("m", 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// data.Add("dm", decimeter);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data.Add("cm", centimeter);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// data.Add("mm", millimeter);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data.Add("ft", feet);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data.Add("yd", yard);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data.Add("mi", mile);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2790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LongitudModel.cs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MasaPesoModel.cs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704397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LongitudModel.cs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MasaPesoModel.cs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WS_CON_UNI_DOTNET_SOAP.Models.Data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MasaPesoModel : IDataConverter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gram = 0.001;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kilogram = 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ounce = 0.0283495;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pound = 0.453592;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quintal = 100;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Dictionary&lt;string, double&gt; ToMap()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Dictionary&lt;string, double&gt; data = new();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data.Add("g", gram);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data.Add("kg", kilogram);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data.Add("oz", ounce);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data.Add("lb", pound);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data.Add("qq", quintal);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663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TemperaturaModel.cs  (1/3)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Models/Data/TemperaturaModel.cs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414232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WS_CON_UNI_DOTNET_SOAP.Models.Data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TemperaturaModel : IDataConverter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Dictionary&lt;string, double&gt; ToMap()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Dictionary&lt;string, double&gt; data = new()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"°C", 1.0 },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"°F", 1.0 },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"K", 1.0 },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"°N", 1.0 },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"°Ré", 1.0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double Convert(double value, string from, string to)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Dictionary&lt;string, double&gt; map = ToMap();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if (!map.ContainsKey(from) || !map.ContainsKey(to))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0;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double celsius;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421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TemperaturaModel.cs  (2/3)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261073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switch (from)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"°C":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celsius = value;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break;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"°F":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celsius = (value - 32) * 5.0 / 9.0;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break;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"K":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celsius = value - 273.15;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break;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"°N":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celsius = value * 100.0 / 33.0;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break;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"°Ré":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celsius = value * 5.0 / 4.0;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break;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default: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return 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780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TemperaturaModel.cs  (3/3)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17261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switch (to)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"°C":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return celsius;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"°F":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return celsius * 9.0 / 5.0 + 32;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"K":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return celsius + 273.15;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"°N":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return celsius * 33.0 / 100.0;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case "°Ré":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return celsius * 4.0 / 5.0;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default: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return 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n-US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973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TiempoModel.cs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Models/Data/TiempoModel.cs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625479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WS_CON_UNI_DOTNET_SOAP.Models.Data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TiempoModel : IDataConverter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millisecond = 0.001;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second = 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minute = 60;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hour = 60 * 60;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day = 60 * 60 * 24;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week = 60 * 60 * 24 * 7;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Dictionary&lt;string, double&gt; ToMap()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Dictionary&lt;string, double&gt; data = new()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"ms", millisecond },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"s", second },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"min", minute },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"h", hour },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"d", day },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"w", week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575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VolumenModel.cs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Datos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Models/Data/VolumenModel.cs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6DA0CC-38B6-1202-922D-4F98FB404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19079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84137577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WS_CON_UNI_DOTNET_SOAP.Models.Data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VolumenModel : IDataConverter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milliliter = 0.001;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liter = 1;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cubicMeter = 1000;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cubicFeet = 28.3168;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double galon = 3.78541;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Dictionary&lt;string, double&gt; ToMap()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Dictionary&lt;string, double&gt; data = new()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"mL", milliliter },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"L", liter },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"m3", cubicMeter },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"ft3", cubicFeet },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 "gal", galon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data;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51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9716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1.2.7	Ejecución del servidor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Ejecutar el servidor desde Visual Studio 2026 o con dotnet run.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Comprobar el WSDL en http://localhost:5052/LoginWebService.svc?wsdl.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Usuario de prueba: monster / monster9.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66428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	CREACIÓN DEL PROYECTO – CLIENTE CONSOLA</a:t>
            </a:r>
          </a:p>
          <a:p>
            <a:pPr marL="34290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.NET 10 + cliente WCF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CONSOLE_CON_UNI_DOTNET_SOAP creado en Visual Studio 2026.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menú en la terminal.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70491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LoginWebServiceClient es el cliente WCF generado desde el WSDL del servidor.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La llamada es asíncrona (async/await) y devuelve el DTO con estado, mensaje y token.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7D679A-A4BC-3014-84FE-03FEF00D2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6060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73875235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internal class LoginHTTP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LoginWebServiceClient _client;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11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LoginHTTP()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_client = new LoginWebServiceClient();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11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async Task&lt;LoginResponseDTO?&gt; LoginAsync(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string username, string password)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var response = await _client.LoginAsync(username, password);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response.Body.LoginResult;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223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8225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1.3.3	Código fuente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LoginHTTP.cs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Conexión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Models/HTTP/LoginHTTP.cs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7D679A-A4BC-3014-84FE-03FEF00D2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54147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73875235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CONSOLE_CON_UNI_DOTNET_SOAP.Models.HTTP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internal class LoginHTTP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LoginWebServiceClient _client;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LoginHTTP()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_client = new LoginWebServiceClient();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async Task&lt;LoginResponseDTO?&gt; LoginAsync(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string username,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string password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var response = await _client.LoginAsync(username, password);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response.Body.LoginResult;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223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4467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LoginController.cs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Controlador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LoginView.cs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Vista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7D679A-A4BC-3014-84FE-03FEF00D2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054029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73875235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LoginController.cs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CONSOLE_CON_UNI_DOTNET_SOAP.Controllers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internal class LoginController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LoginResponseDTO? Login(string username, string password)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LoginHTTP http = new LoginHTTP();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LoginResponseDTO? dto = http.LoginAsync(username, password).Result;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// Save Token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if (dto?.estado == EstadosEnum.OK)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ConfigHTTP.token = dto.token;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dto;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LoginView.cs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CONSOLE_CON_UNI_DOTNET_SOAP.Views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internal class LoginView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bool UserHasLogin()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var ctrl = new LoginController();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223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2889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LoginView.cs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7D679A-A4BC-3014-84FE-03FEF00D2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54299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73875235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// Username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MessagesUtils.PrintMessage("Username: 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string username = Console.ReadLine() ?? string.Empty;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// Password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MessagesUtils.PrintMessage("Password: 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string password = Console.ReadLine() ?? string.Empty;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LoginResponseDTO? res = ctrl.Login(username, password);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if (res is null)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MessagesUtils.PrintMessage("No se recibió respuesta del servicio.");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false;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MessagesUtils.PrintMessage(res.mensaje ?? string.Empty);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Thread.Sleep(TimeSpan.FromSeconds(3));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res.estado == EstadosEnum.OK;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223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2502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1.3.4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B46213-429F-B608-632F-F9EE0C2464BB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3" name="Captura Inicio de sesión">
            <a:extLst>
              <a:ext uri="{FF2B5EF4-FFF2-40B4-BE49-F238E27FC236}">
                <a16:creationId xmlns:a16="http://schemas.microsoft.com/office/drawing/2014/main" id="{F24831A3-148E-F234-87FC-B7C92AC699A4}"/>
              </a:ext>
            </a:extLst>
          </p:cNvPr>
          <p:cNvSpPr/>
          <p:nvPr/>
        </p:nvSpPr>
        <p:spPr>
          <a:xfrm>
            <a:off x="5842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A20512-C17E-9BE6-F1B7-A95A1F3100AB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5" name="Captura Conversión">
            <a:extLst>
              <a:ext uri="{FF2B5EF4-FFF2-40B4-BE49-F238E27FC236}">
                <a16:creationId xmlns:a16="http://schemas.microsoft.com/office/drawing/2014/main" id="{305D5504-C8D4-064F-0C33-FCB945D4FF0E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4EE60-948A-66BA-9234-EA4BA6BBE9F9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sp>
        <p:nvSpPr>
          <p:cNvPr id="7" name="Captura Catálogo de unidades">
            <a:extLst>
              <a:ext uri="{FF2B5EF4-FFF2-40B4-BE49-F238E27FC236}">
                <a16:creationId xmlns:a16="http://schemas.microsoft.com/office/drawing/2014/main" id="{E7ED1345-A02E-C4C7-811F-C097B2630B19}"/>
              </a:ext>
            </a:extLst>
          </p:cNvPr>
          <p:cNvSpPr/>
          <p:nvPr/>
        </p:nvSpPr>
        <p:spPr>
          <a:xfrm>
            <a:off x="65024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9" name="Captura Inicio de sesión">
            <a:extLst>
              <a:ext uri="{FF2B5EF4-FFF2-40B4-BE49-F238E27FC236}">
                <a16:creationId xmlns:a16="http://schemas.microsoft.com/office/drawing/2014/main" id="{B068E19A-56CE-09E3-A57F-8726B403C0BD}"/>
              </a:ext>
            </a:extLst>
          </p:cNvPr>
          <p:cNvSpPr/>
          <p:nvPr/>
        </p:nvSpPr>
        <p:spPr>
          <a:xfrm>
            <a:off x="5842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11" name="Captura Conversión">
            <a:extLst>
              <a:ext uri="{FF2B5EF4-FFF2-40B4-BE49-F238E27FC236}">
                <a16:creationId xmlns:a16="http://schemas.microsoft.com/office/drawing/2014/main" id="{8975573B-077A-4121-0DE5-92D30F6C3260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13" name="Captura Catálogo de unidades">
            <a:extLst>
              <a:ext uri="{FF2B5EF4-FFF2-40B4-BE49-F238E27FC236}">
                <a16:creationId xmlns:a16="http://schemas.microsoft.com/office/drawing/2014/main" id="{90B22612-0001-54A2-D9C7-DBB54BF6A7E4}"/>
              </a:ext>
            </a:extLst>
          </p:cNvPr>
          <p:cNvSpPr/>
          <p:nvPr/>
        </p:nvSpPr>
        <p:spPr>
          <a:xfrm>
            <a:off x="65024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5E7AA9-1B38-CCD8-4A83-3B90B7277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74" y="3079484"/>
            <a:ext cx="1926055" cy="32012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9FD19A-01FF-C48F-3F73-E99B97F08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102" y="3079484"/>
            <a:ext cx="2305050" cy="32289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2884B3B-24C8-CBD6-8F74-19E365BB7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3031048"/>
            <a:ext cx="2283026" cy="327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609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	CREACIÓN DEL PROYECTO – CLIENTE ESCRITORIO</a:t>
            </a:r>
          </a:p>
          <a:p>
            <a:pPr marL="34290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WinForms + WCF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ESC_CON_UNI_DOTNET_SOAP creado en Visual Studio 2026.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ventanas de login y principal.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91021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Crea un canal WCF (ChannelFactory) por cada servicio .svc con BasicHttpBinding, el enlace SOAP básico.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Los tiempos de espera (5 s y 15 s) evitan esperas sin fin si el servidor no responde.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1E4A47-DBB0-F097-A1CB-01E05E7FD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846248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75228556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var binding = new BasicHttpBinding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OpenTimeout = TiempoConexion,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SendTimeout = TiempoPeticion,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ReceiveTimeout = TiempoPeticion,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MaxReceivedMessageSize = int.MaxValue,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return new ConversorServicio(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new CanalLogin(new ChannelFactory&lt;ILoginWebService&gt;(binding,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new EndpointAddress(urlBase + "/LoginWebService.svc"))),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new CanalCatalogo(new ChannelFactory&lt;ICatalogWebService&gt;(binding,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new EndpointAddress(urlBase + "/CatalogWebService.svc"))),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new CanalConversor(new ChannelFactory&lt;IConverterWebService&gt;(binding,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new EndpointAddress(urlBase + "/ConverterWebService.svc"))),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sesion);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529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1927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1.4.3	Código fuente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ClienteSoap.cs  (1/3)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ec/edu/monster/modelo/ClienteSoap.cs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1E4A47-DBB0-F097-A1CB-01E05E7FD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056296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75228556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ec.edu.monster.modelo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&lt;summary&gt;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Conecta el modelo con el servidor SOAP real. Las ChannelFactory se crean una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sola vez; cada llamada abre y cierra su propio canal.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&lt;/summary&gt;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static class ClienteSoap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static readonly TimeSpan TiempoConexion = TimeSpan.FromSeconds(5);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static readonly TimeSpan TiempoPeticion = TimeSpan.FromSeconds(15);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/// &lt;summary&gt;Crea el servicio de la aplicación, ligado a su sesión.&lt;/summary&gt;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static ConversorServicio CrearServicio(string urlBase, Sesion sesion)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urlBase = urlBase.TrimEnd('/');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// El servidor lo comparten varios clientes y puede trabarse: mejor fallar que esperar sin fin.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var binding = new BasicHttpBinding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OpenTimeout = TiempoConexion,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SendTimeout = TiempoPeticion,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ReceiveTimeout = TiempoPeticion,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CloseTimeout = TiempoConexion,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MaxReceivedMessageSize = int.MaxValue,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529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1058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ClienteSoap.cs  (2/3)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1E4A47-DBB0-F097-A1CB-01E05E7FD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72543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75228556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new ConversorServicio(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new CanalLogin(new ChannelFactory&lt;ILoginWebService&gt;(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binding, new EndpointAddress(urlBase + "/LoginWebService.svc"))),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new CanalCatalogo(new ChannelFactory&lt;ICatalogWebService&gt;(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binding, new EndpointAddress(urlBase + "/CatalogWebService.svc"))),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new CanalConversor(new ChannelFactory&lt;IConverterWebService&gt;(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binding, new EndpointAddress(urlBase + "/ConverterWebService.svc"))),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sesion);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Abre un canal, hace una sola llamada y lo cierra; si falla, lo aborta.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static async Task&lt;R&gt; UsarCanalAsync&lt;T, R&gt;(ChannelFactory&lt;T&gt; fabrica, Func&lt;T, Task&lt;R&gt;&gt; llamada)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 canal = fabrica.CreateChannel();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var comunicacion = (ICommunicationObject)canal!;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 resultado = await llamada(canal);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comunicacion.Close();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catch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comunicacion.Abort();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throw;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529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5595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ClienteSoap.cs  (3/3)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1E4A47-DBB0-F097-A1CB-01E05E7FD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75078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75228556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sealed class CanalLogin(ChannelFactory&lt;ILoginWebService&gt; fabrica) : ILoginWebService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public Task&lt;LoginResponse&gt; LoginAsync(LoginRequest request) =&gt;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UsarCanalAsync(fabrica, c =&gt; c.LoginAsync(request));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sealed class CanalCatalogo(ChannelFactory&lt;ICatalogWebService&gt; fabrica) : ICatalogWebService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public Task&lt;GetCatalogResponse&gt; GetCatalogAsync(GetCatalogRequest request) =&gt;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UsarCanalAsync(fabrica, c =&gt; c.GetCatalogAsync(request));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sealed class CanalConversor(ChannelFactory&lt;IConverterWebService&gt; fabrica) : IConverterWebService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public Task&lt;ConvertResponse&gt; ConvertAsync(ConvertRequest request) =&gt;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UsarCanalAsync(fabrica, c =&gt; c.ConvertAsync(request));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529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8240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LoginControlador.cs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Controlador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ec/edu/monster/controlador/LoginControlador.cs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1E4A47-DBB0-F097-A1CB-01E05E7FD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780074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75228556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ec.edu.monster.controlador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&lt;summary&gt;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Maneja la pantalla de login: valida los datos, pide al modelo iniciar sesión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y le dice a la vista qué mostrar después.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&lt;/summary&gt;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LoginControlador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const string CredencialesVacias = "Ingrese usuario y contraseña";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ILoginVista vista;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ConversorServicio servicio;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LoginControlador(ILoginVista vista, ConversorServicio servicio)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this.vista = vista;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this.servicio = servicio;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vista.AlIngresar(IngresarAsync);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async Task IngresarAsync()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string usuario = vista.Usuario;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string clave = vista.Clave;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529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78126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LoginControlador.cs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LoginFrame.cs  (1/5)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Vista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1E4A47-DBB0-F097-A1CB-01E05E7FD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31460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75228556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LoginControlador.cs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if (string.IsNullOrWhiteSpace(usuario) || string.IsNullOrWhiteSpace(clave))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vista.MostrarError(CredencialesVacias);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await servicio.IniciarSesionAsync(usuario.Trim(), clave);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vista.AbrirMenu();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catch (ServicioException 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vista.MostrarError(e.Message);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LoginFrame.cs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ec.edu.monster.vista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&lt;summary&gt;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Ventana de login. La navegación a la ventana principal se delega en el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callback alAbrirMenu que entrega App.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&lt;/summary&gt;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LoginFrame : Form, ILoginVista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Action alAbrirMenu;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TextBox campoUsuario = Estilos.Entrada();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529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8922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LoginFrame.cs  (2/5)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1E4A47-DBB0-F097-A1CB-01E05E7FD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402547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75228556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TextBox campoClave = Estilos.Entrada(clave: true);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Button botonIngresar = Estilos.BotonPrimario("Ingresar");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Func&lt;Task&gt; accionIngresar = () =&gt; Task.CompletedTask;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IndicadorEstado Estado { get; } 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new("Servicio disponible", "Servicio no disponible");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LoginFrame(Action alAbrirMenu)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this.alAbrirMenu = alAbrirMenu;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SuspendLayout();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AutoScaleDimensions = new SizeF(96F, 96F);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AutoScaleMode = AutoScaleMode.Dpi;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Text = Estilos.TituloVentana;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ClientSize = new Size(640, 460);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MinimumSize = new Size(480, 420);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StartPosition = FormStartPosition.CenterScreen;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BackColor = Estilos.Fondo;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Font = Estilos.Fuente;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Controls.Add(ConstruirContenido());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Controls.Add(Estado);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MainMenuStrip = Estilos.BarraMenu(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Estilos.Menu("Archivo", Estilos.Opcion("Salir", Close)),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Estilos.MenuAyuda(this));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Controls.Add(MainMenuStrip);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529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6921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LoginFrame.cs  (3/5)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1E4A47-DBB0-F097-A1CB-01E05E7FD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20953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75228556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AcceptButton = botonIngresar;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botonIngresar.Click += (_, _) =&gt; Ingresar();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Shown += (_, _) =&gt;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campoUsuario.Focus();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Estado.Iniciar();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ResumeLayout(false);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PerformLayout();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Control ConstruirContenido()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var formulario = new TableLayoutPanel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ColumnCount = 1,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Dock = DockStyle.Fill,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Padding = new Padding(50, 30, 50, 0),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BackColor = Estilos.Fondo,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formulario.ColumnStyles.Add(new ColumnStyle(SizeType.Percent, 100));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529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3648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LoginFrame.cs  (4/5)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1E4A47-DBB0-F097-A1CB-01E05E7FD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118183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75228556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var filaBoton = new FlowLayoutPanel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FlowDirection = FlowDirection.RightToLeft,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Dock = DockStyle.Fill,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AutoSize = true,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Margin = new Padding(0),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filaBoton.Controls.Add(botonIngresar);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formulario.Controls.Add(Estilos.Titulo("Iniciar sesión"));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formulario.Controls.Add(Estilos.Etiqueta("Usuario"));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formulario.Controls.Add(campoUsuario);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formulario.Controls.Add(Estilos.Etiqueta("Contraseña"));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formulario.Controls.Add(campoClave);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formulario.Controls.Add(filaBoton);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formulario;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void Ingresar()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Estilos.Ejecutar(accionIngresar, MostrarError, botonIngresar, campoUsuario, campoClave);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Usuario =&gt; campoUsuario.Text;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string Clave =&gt; campoClave.Text;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529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8716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LoginFrame.cs  (5/5)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1E4A47-DBB0-F097-A1CB-01E05E7FD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16016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75228556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MostrarError(string mensaje)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MessageBox.Show(this, mensaje, Estilos.TituloVentana, MessageBoxButtons.OK, MessageBoxIcon.Error);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AbrirMenu()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// La contraseña no se queda en memoria de una ventana que ya no se usa.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campoClave.Clear();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alAbrirMenu();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Close();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void AlIngresar(Func&lt;Task&gt; accion)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accionIngresar = accion;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529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0242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1.4.4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633829-1DD7-C254-3C14-C8FDDB1C9FD9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3" name="Captura Inicio de sesión">
            <a:extLst>
              <a:ext uri="{FF2B5EF4-FFF2-40B4-BE49-F238E27FC236}">
                <a16:creationId xmlns:a16="http://schemas.microsoft.com/office/drawing/2014/main" id="{41593887-94B7-BDDF-2569-60CB9E6D4DD2}"/>
              </a:ext>
            </a:extLst>
          </p:cNvPr>
          <p:cNvSpPr/>
          <p:nvPr/>
        </p:nvSpPr>
        <p:spPr>
          <a:xfrm>
            <a:off x="5842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5A4C0C-24A8-7899-C043-0E4D4C60189D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5" name="Captura Conversión">
            <a:extLst>
              <a:ext uri="{FF2B5EF4-FFF2-40B4-BE49-F238E27FC236}">
                <a16:creationId xmlns:a16="http://schemas.microsoft.com/office/drawing/2014/main" id="{D71AAD67-5FE8-7F05-AC62-94901837385A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EB62AD-895B-21FF-1500-4DCDD5287956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sp>
        <p:nvSpPr>
          <p:cNvPr id="7" name="Captura Catálogo de unidades">
            <a:extLst>
              <a:ext uri="{FF2B5EF4-FFF2-40B4-BE49-F238E27FC236}">
                <a16:creationId xmlns:a16="http://schemas.microsoft.com/office/drawing/2014/main" id="{EB32E82B-2DB1-B4CF-89EF-90DEA885BB51}"/>
              </a:ext>
            </a:extLst>
          </p:cNvPr>
          <p:cNvSpPr/>
          <p:nvPr/>
        </p:nvSpPr>
        <p:spPr>
          <a:xfrm>
            <a:off x="65024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C0C2AA-A4B0-BB2E-B79D-DB19166A18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7112" b="60054"/>
          <a:stretch>
            <a:fillRect/>
          </a:stretch>
        </p:blipFill>
        <p:spPr>
          <a:xfrm>
            <a:off x="581191" y="3693801"/>
            <a:ext cx="2632964" cy="19108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8DC244-465C-1050-0FEE-B5F1B6A9D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00" y="3584220"/>
            <a:ext cx="2570640" cy="21126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24CD7B-8B25-8F25-388C-09B2F64BC6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1" y="3693802"/>
            <a:ext cx="2667000" cy="180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7768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	CREACIÓN DEL PROYECTO – CLIENTE WEB</a:t>
            </a:r>
          </a:p>
          <a:p>
            <a:pPr marL="34290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ASP.NET Core MVC + WCF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WEB_CON_UNI_DOTNET_SOAP creado en Visual Studio 2026.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páginas de login, menú, catálogo y conversión.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06362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El controlador MVC recibe el formulario y llama al servidor SOAP a través de FabricaServicios (canales WCF).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Si el login falla, vuelve a mostrar la vista con el mensaje; si funciona, guarda la sesión y va al menú.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40F457-D136-8CF4-19F9-D3B4CD904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252107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0775881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[HttpPost("/login")]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async Task&lt;IActionResult&gt; Ingresar(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string? usuario, string? clave)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var vista = new LoginVista { Usuario = usuario ?? "" };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... validación de campos vacíos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var sesion = new Sesion();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try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await fabrica.CrearServicio(sesion)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.IniciarSesionAsync(usuario.Trim(), clave);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catch (ServicioException 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vista.Error = e.Message;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await VistaAsync(vista);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SesionUsuario.Guardar(HttpContext, sesion);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return Redirect("~/menu");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5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6107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1.5.3	Código fuente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FabricaServicios.cs  (1/5)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Controlador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ec/edu/monster/controlador/FabricaServicios.cs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40F457-D136-8CF4-19F9-D3B4CD904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292514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0775881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ec.edu.monster.controlador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interface IFabricaServicios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/// &lt;summary&gt;Crea el servicio de un usuario, ligado a su sesión.&lt;/summary&gt;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ConversorServicio CrearServicio(Sesion sesion);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/// &lt;summary&gt;True cuando el servidor responde su WSDL en este momento.&lt;/summary&gt;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Task&lt;bool&gt; DisponibleAsync();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&lt;summary&gt;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Fábrica única de la aplicación. Las ChannelFactory son costosas, así que se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crean una sola vez; cada llamada abre y cierra su propio canal.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&lt;/summary&gt;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FabricaServicios : IFabricaServicios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static readonly TimeSpan TiempoConexion = TimeSpan.FromSeconds(5);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static readonly TimeSpan TiempoPeticion = TimeSpan.FromSeconds(15);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static readonly TimeSpan TiempoDisponible = TimeSpan.FromSeconds(2);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ChannelFactory&lt;ILoginWebService&gt; login;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ChannelFactory&lt;ICatalogWebService&gt; catalogo;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ChannelFactory&lt;IConverterWebService&gt; conversor;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Uri wsdl;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HttpClient http = new() { Timeout = TiempoDisponible };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5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4215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FabricaServicios.cs  (2/5)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40F457-D136-8CF4-19F9-D3B4CD904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554882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0775881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FabricaServicios(string urlBase)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urlBase = urlBase.TrimEnd('/');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// El servidor lo comparten varios clientes y puede trabarse: mejor fallar que esperar sin fin.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var binding = new BasicHttpBinding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OpenTimeout = TiempoConexion,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SendTimeout = TiempoPeticion,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ReceiveTimeout = TiempoPeticion,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CloseTimeout = TiempoConexion,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MaxReceivedMessageSize = int.MaxValue,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login = new ChannelFactory&lt;ILoginWebService&gt;(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binding, new EndpointAddress(urlBase + "/LoginWebService.svc"));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catalogo = new ChannelFactory&lt;ICatalogWebService&gt;(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binding, new EndpointAddress(urlBase + "/CatalogWebService.svc"));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conversor = new ChannelFactory&lt;IConverterWebService&gt;(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binding, new EndpointAddress(urlBase + "/ConverterWebService.svc"));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wsdl = new Uri(urlBase + "/LoginWebService.svc?wsdl");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5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4453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FabricaServicios.cs  (3/5)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40F457-D136-8CF4-19F9-D3B4CD904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892833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0775881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ConversorServicio CrearServicio(Sesion sesion)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new ConversorServicio(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new CanalLogin(login),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new CanalCatalogo(catalogo),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new CanalConversor(conversor),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sesion);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async Task&lt;bool&gt; DisponibleAsync()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// Se pregunta cada vez: el servidor puede caerse en cualquier momento.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using var respuesta = await http.GetAsync(wsdl, HttpCompletionOption.ResponseHeadersRead);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respuesta.IsSuccessStatusCode;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catch (HttpRequestException)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false;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catch (TaskCanceledException)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false;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5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5719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FabricaServicios.cs  (4/5)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40F457-D136-8CF4-19F9-D3B4CD904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75649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0775881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Abre un canal, hace una sola llamada y lo cierra; si falla, lo aborta.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static async Task&lt;R&gt; UsarCanalAsync&lt;T, R&gt;(ChannelFactory&lt;T&gt; fabrica, Func&lt;T, Task&lt;R&gt;&gt; llamada)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 canal = fabrica.CreateChannel();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var comunicacion = (ICommunicationObject)canal!;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 resultado = await llamada(canal);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comunicacion.Close();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catch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comunicacion.Abort();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throw;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sealed class CanalLogin(ChannelFactory&lt;ILoginWebService&gt; fabrica) : ILoginWebService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public Task&lt;LoginResponse&gt; LoginAsync(LoginRequest request) =&gt;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UsarCanalAsync(fabrica, c =&gt; c.LoginAsync(request));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5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1183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FabricaServicios.cs  (5/5)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LoginController.cs  (1/3)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Controlador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40F457-D136-8CF4-19F9-D3B4CD904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514998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0775881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FabricaServicios.cs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sealed class CanalCatalogo(ChannelFactory&lt;ICatalogWebService&gt; fabrica) : ICatalogWebService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public Task&lt;GetCatalogResponse&gt; GetCatalogAsync(GetCatalogRequest request) =&gt;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UsarCanalAsync(fabrica, c =&gt; c.GetCatalogAsync(request));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sealed class CanalConversor(ChannelFactory&lt;IConverterWebService&gt; fabrica) : IConverterWebService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public Task&lt;ConvertResponse&gt; ConvertAsync(ConvertRequest request) =&gt;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UsarCanalAsync(fabrica, c =&gt; c.ConvertAsync(request));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LoginController.cs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ec.edu.monster.controlador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&lt;summary&gt;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Página de login: valida los datos, pide al modelo iniciar sesión y, si todo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sale bien, guarda la sesión del usuario.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/// &lt;/summary&gt;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public class LoginController(IFabricaServicios fabrica) : Controller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const string CredencialesVacias = "Ingrese usuario y contraseña";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5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9275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LoginController.cs  (2/3)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40F457-D136-8CF4-19F9-D3B4CD904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78439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0775881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[HttpGet("/")]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IActionResult Inicio()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Redirect("~/login");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[HttpGet("/login")]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async Task&lt;IActionResult&gt; Mostrar()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if (SesionUsuario.Activa(HttpContext))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Redirect("~/menu");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await VistaAsync(new LoginVista());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[HttpPost("/login")]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async Task&lt;IActionResult&gt; Ingresar(string? usuario, string? clave)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// La contraseña nunca se devuelve a la página.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var vista = new LoginVista { Usuario = usuario ?? "" };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if (string.IsNullOrWhiteSpace(usuario) || string.IsNullOrWhiteSpace(clave))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vista.Error = CredencialesVacias;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await VistaAsync(vista);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5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1694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LoginController.cs  (3/3)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40F457-D136-8CF4-19F9-D3B4CD904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68800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0775881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var sesion = new Sesion();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try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await fabrica.CrearServicio(sesion).IniciarSesionAsync(usuario.Trim(), clave);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catch (ServicioException 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SesionUsuario.Cerrar(HttpContext);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vista.Error = e.Message;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await VistaAsync(vista);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SesionUsuario.Guardar(HttpContext, sesion);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Redirect("~/menu");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async Task&lt;IActionResult&gt; VistaAsync(LoginVista vista)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ViewData["ServicioDisponible"] = await fabrica.DisponibleAsync();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return View("login", vista);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5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53946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login.cshtml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Vista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ec/edu/monster/vista/login.cshtml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40F457-D136-8CF4-19F9-D3B4CD904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354138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0775881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@model LoginVista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@{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ViewData["Titulo"] = "Iniciar sesión";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&lt;main class="contenido-centrado"&gt;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&lt;section class="tarjeta tarjeta-login"&gt;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&lt;h1&gt;Iniciar sesión&lt;/h1&gt;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&lt;form method="post" action="~/login" asp-antiforgery="true" novalidate&gt;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&lt;label for="usuario"&gt;Usuario&lt;/label&gt;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&lt;input type="text" id="usuario" name="usuario" value="@Model.Usuario"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autocomplete="username" autofocus&gt;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&lt;label for="clave"&gt;Contraseña&lt;/label&gt;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&lt;input type="password" id="clave" name="clave" autocomplete="current-password"&gt;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&lt;button type="submit" class="boton"&gt;Ingresar&lt;/button&gt;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&lt;/form&gt;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&lt;/section&gt;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&lt;/main&gt;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@if (!string.IsNullOrEmpty(Model.Error))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&lt;dialog id="dialogo-error" class="dialogo" open&gt;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&lt;h2&gt;Error de autenticación&lt;/h2&gt;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&lt;p&gt;@Model.Error&lt;/p&gt;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&lt;form method="dialog"&gt;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&lt;button type="submit" class="boton"&gt;Aceptar&lt;/button&gt;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&lt;/form&gt;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&lt;/dialog&gt;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&lt;script&gt;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// Se reabre como modal para oscurecer la página de fondo, como en el mockup.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(function ()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var dialogo = document.getElementById('dialogo-error');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5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1933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login.cshtml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40F457-D136-8CF4-19F9-D3B4CD904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020363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107758813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if (dialogo &amp;&amp; dialogo.showModal)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dialogo.close();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dialogo.showModal();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})();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&lt;/script&gt;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5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3037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1.5.4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D5A7E5-0310-2F4A-184B-2144A2F83252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3" name="Captura Inicio de sesión">
            <a:extLst>
              <a:ext uri="{FF2B5EF4-FFF2-40B4-BE49-F238E27FC236}">
                <a16:creationId xmlns:a16="http://schemas.microsoft.com/office/drawing/2014/main" id="{C15036A6-AD4F-5E49-F456-3CED965BAAD4}"/>
              </a:ext>
            </a:extLst>
          </p:cNvPr>
          <p:cNvSpPr/>
          <p:nvPr/>
        </p:nvSpPr>
        <p:spPr>
          <a:xfrm>
            <a:off x="5842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6EE0A-92F3-BA3F-8DCE-CE89FF31A27C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5" name="Captura Conversión">
            <a:extLst>
              <a:ext uri="{FF2B5EF4-FFF2-40B4-BE49-F238E27FC236}">
                <a16:creationId xmlns:a16="http://schemas.microsoft.com/office/drawing/2014/main" id="{0D78918E-297E-A27E-32E7-034D2D5C1703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792AB8-73E1-ACAE-A962-4D72E43DA3D9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sp>
        <p:nvSpPr>
          <p:cNvPr id="7" name="Captura Catálogo de unidades">
            <a:extLst>
              <a:ext uri="{FF2B5EF4-FFF2-40B4-BE49-F238E27FC236}">
                <a16:creationId xmlns:a16="http://schemas.microsoft.com/office/drawing/2014/main" id="{26B4729B-7F8F-CF81-8FF1-B7FEC9645281}"/>
              </a:ext>
            </a:extLst>
          </p:cNvPr>
          <p:cNvSpPr/>
          <p:nvPr/>
        </p:nvSpPr>
        <p:spPr>
          <a:xfrm>
            <a:off x="65024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BCE037-1D5C-382F-97FD-9B6A2AA84B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342" t="-1" r="26887" b="25898"/>
          <a:stretch>
            <a:fillRect/>
          </a:stretch>
        </p:blipFill>
        <p:spPr>
          <a:xfrm>
            <a:off x="772948" y="3429000"/>
            <a:ext cx="2317094" cy="24448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A76172-C5C4-4008-62A6-179B8535A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154" y="3809999"/>
            <a:ext cx="2639146" cy="17842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36E317-9C46-31D7-8DDB-F8B244DFD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0" y="3744815"/>
            <a:ext cx="2639146" cy="170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22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	CREACIÓN DEL PROYECTO – CLIENTE MÓVIL</a:t>
            </a:r>
          </a:p>
          <a:p>
            <a:pPr marL="34290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.NET MAUI (Android)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MOV_CON_UNI_DOTNET_SOAP creado en Visual Studio 2026.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pantallas de login, catálogo y conversión.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04398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La app MAUI usa el cliente WCF generado y apunta a la IP de la PC en la red (SoapConfig.BaseUrl).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Si no hay conexión o se agota el tiempo, cierra el canal y muestra "No se pudo conectar con el servidor".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FEDAF5-2767-43E8-9A2C-445F5BD26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671368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9023747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var client = new SoapLogin.LoginWebServiceClient(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SoapLogin.LoginWebServiceClient.EndpointConfiguration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.BasicHttpBinding_ILoginWebService_soap,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SoapConfig.BaseUrl + "/LoginWebService.svc");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try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var response = await client.LoginAsync(username, password);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await client.CloseAsync();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var dto = response.Body.LoginResult;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return new LoginResult(dto.estado == SoapLogin.EstadosEnum.OK,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dto.mensaje ?? "", dto.token);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catch (Exception ex) when (ex is CommunicationException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  or TimeoutException)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client.Abort();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return new LoginResult(false,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"No se pudo conectar con el servidor", null);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182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0017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1.6.3	Código fuente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LoginRepository.cs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Modelo · Repositorio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MOV_CON_UNI_DOTNET_SOAP/Models/Repositories/LoginRepository.cs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FEDAF5-2767-43E8-9A2C-445F5BD26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829355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9023747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MOV_CON_UNI_DOTNET_SOAP.Models.Repositories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class LoginRepository : ILoginRepository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async Task&lt;LoginResult&gt; LoginAsync(string username, string password)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if (SoapErrores.SinRed())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LoginResult(false, SoapErrores.SinConexion, null);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SoapLogin.LoginWebServiceClient? client = null;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try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client = new SoapLogin.LoginWebServiceClient(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SoapLogin.LoginWebServiceClient.EndpointConfiguration.BasicHttpBinding_ILoginWebService_soap,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SoapConfig.BaseUrl + "LoginWebService.svc"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SoapLogin.LoginResponse response = await client.LoginAsync(username, password);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await client.CloseAsync();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SoapLogin.LoginResponseDTO? dto = response?.Body?.LoginResult;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(dto == null)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return new LoginResult(false, SoapErrores.RespuestaIncompleta, null);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(dto.estado != SoapLogin.EstadosEnum.OK)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return new LoginResult(false, SoapErrores.MensajeServidor(dto.mensaje, "Usuario o contraseña incorrectos"), null);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182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1211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LoginRepository.cs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LoginController.cs  (1/2)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Controlador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FEDAF5-2767-43E8-9A2C-445F5BD26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17060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9023747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LoginRepository.cs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if (string.IsNullOrWhiteSpace(dto.token))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return new LoginResult(false, SoapErrores.RespuestaIncompleta, null);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LoginResult(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Success: true,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Message: dto.mensaje ?? "",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Token: dto.token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catch (Exception ex)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client?.Abort();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LoginResult(false, SoapErrores.Mensaje(ex), null);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LoginController.cs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MOV_CON_UNI_DOTNET_SOAP.Controllers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class LoginController(ILoginRepository loginRepository, SessionService session) : ControladorConSesion(session)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const int MaxUsuario = 50;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const int MaxPassword = 64;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private readonly ILoginRepository _loginRepository = loginRepository;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182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62770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LoginController.cs  (2/2)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FEDAF5-2767-43E8-9A2C-445F5BD26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727297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9023747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public async Task&lt;LoginResult&gt; LoginAsync(string? username, string? password)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string usuario = username?.Trim() ?? "";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string clave = password?.Trim() ?? "";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if (usuario.Length == 0)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LoginResult(false, "Ingrese el usuario", null);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if (clave.Length == 0)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LoginResult(false, "Ingrese la contraseña", null);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if (usuario.Length &gt; MaxUsuario)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LoginResult(false, $"El usuario no puede superar {MaxUsuario} caracteres", null);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if (clave.Length &gt; MaxPassword)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return new LoginResult(false, $"La contraseña no puede superar {MaxPassword} caracteres", null);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LoginResult resultado = await _loginRepository.LoginAsync(usuario, clave);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if (resultado.Success &amp;&amp; resultado.Token is not null)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Session.Iniciar(usuario, resultado.Token);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resultado;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182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42966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LoginPage.xaml  (1/4)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Vista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MOV_CON_UNI_DOTNET_SOAP/Views/LoginPage.xaml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FEDAF5-2767-43E8-9A2C-445F5BD26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52942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9023747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&lt;?xml version="1.0" encoding="utf-8" ?&gt;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&lt;ContentPage xmlns="http://schemas.microsoft.com/dotnet/2021/maui"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xmlns:x="http://schemas.microsoft.com/winfx/2009/xaml"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xmlns:controllers="clr-namespace:MOV_CON_UNI_DOTNET_SOAP.Controllers"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x:Class="MOV_CON_UNI_DOTNET_SOAP.Views.LoginPage"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Title="Conversión de Unidades Monster"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BackgroundColor="{StaticResource FondoApp}"&gt;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&lt;ContentPage.Resources&gt;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&lt;Style x:Key="CampoLabel" TargetType="Label"&gt;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&lt;Setter Property="FontSize" Value="16"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&lt;Setter Property="TextColor" Value="{StaticResource TextoOscuro}"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&lt;Setter Property="Margin" Value="0,0,0,8"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&lt;/Style&gt;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&lt;Style x:Key="CampoBorde" TargetType="Border"&gt;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&lt;Setter Property="Stroke" Value="{StaticResource BordeCampo}"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&lt;Setter Property="StrokeThickness" Value="1"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&lt;Setter Property="StrokeShape" Value="RoundRectangle 8"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&lt;Setter Property="BackgroundColor" Value="White"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&lt;Setter Property="Padding" Value="12,0"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&lt;Setter Property="HeightRequest" Value="56"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&lt;/Style&gt;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182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316637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LoginPage.xaml  (2/4)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FEDAF5-2767-43E8-9A2C-445F5BD26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104366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9023747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&lt;Style x:Key="CampoEntry" TargetType="Entry"&gt;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&lt;Setter Property="FontSize" Value="16"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&lt;Setter Property="TextColor" Value="{StaticResource TextoOscuro}"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&lt;Setter Property="BackgroundColor" Value="Transparent"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&lt;Setter Property="VerticalOptions" Value="Center"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&lt;/Style&gt;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&lt;/ContentPage.Resources&gt;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&lt;Grid Padding="24"&gt;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&lt;Border BackgroundColor="White"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Stroke="{StaticResource BordeTarjeta}"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StrokeThickness="1"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StrokeShape="RoundRectangle 16"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Padding="28,32"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VerticalOptions="Center"&gt;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&lt;VerticalStackLayout&gt;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&lt;Label Text="Iniciar sesión"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FontSize="32"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TextColor="{StaticResource MonsterPrimary}"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Margin="0,0,0,28" /&gt;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182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38473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LoginPage.xaml  (3/4)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FEDAF5-2767-43E8-9A2C-445F5BD26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964297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9023747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&lt;Label Text="Usuario" Style="{StaticResource CampoLabel}"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&lt;Border Style="{StaticResource CampoBorde}" Margin="0,0,0,20"&gt;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&lt;Entry x:Name="UsernameEntry"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Style="{StaticResource CampoEntry}"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MaxLength="{x:Static controllers:LoginController.MaxUsuario}"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IsSpellCheckEnabled="False"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IsTextPredictionEnabled="False"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ReturnType="Next"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Completed="OnUsuarioCompleted"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&lt;/Border&gt;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&lt;Label Text="Contraseña" Style="{StaticResource CampoLabel}"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&lt;Border Style="{StaticResource CampoBorde}"&gt;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&lt;Entry x:Name="PasswordEntry"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IsPassword="True"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Style="{StaticResource CampoEntry}"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MaxLength="{x:Static controllers:LoginController.MaxPassword}"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ReturnType="Go"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Completed="OnIngresarClicked" /&gt;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&lt;/Border&gt;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&lt;Label x:Name="ErrorLabel"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TextColor="{StaticResource TextoError}"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FontSize="14"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IsVisible="False"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Margin="0,12,0,0" /&gt;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182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0867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LoginPage.xaml  (4/4)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</a:p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LoginPage.xaml.cs  (1/4)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Capa: Vista</a:t>
            </a:r>
            <a:endParaRPr sz="12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FEDAF5-2767-43E8-9A2C-445F5BD26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554626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9023747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&lt;!-- ===== LoginPage.xaml ===== --&gt;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&lt;Button x:Name="IngresarButton"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Text="Ingresar"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Clicked="OnIngresarClicked"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BackgroundColor="{StaticResource MonsterPrimary}"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TextColor="White"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FontSize="18"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CornerRadius="8"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HeightRequest="56"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Margin="0,28,0,0" /&gt;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&lt;ActivityIndicator x:Name="CargandoIndicator"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        Color="{StaticResource MonsterPrimary}"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        IsRunning="False"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        IsVisible="False"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                       Margin="0,16,0,0" /&gt;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    &lt;/VerticalStackLayout&gt;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&lt;/Border&gt;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&lt;/Grid&gt;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&lt;/ContentPage&gt;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// ===== LoginPage.xaml.cs =====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namespace MOV_CON_UNI_DOTNET_SOAP.Views;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partial class LoginPage : ContentPage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readonly LoginController _controller;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182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7305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LoginPage.xaml.cs  (2/4)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FEDAF5-2767-43E8-9A2C-445F5BD26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658977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9023747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LoginPage(LoginController controller)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InitializeComponent();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_controller = controller;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void OnUsuarioCompleted(object? sender, EventArgs e) =&gt; PasswordEntry.Focus();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async void OnIngresarClicked(object? sender, EventArgs 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if (!IngresarButton.IsEnabled)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MostrarCargando(true);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ErrorLabel.IsVisible = false;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try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var resultado = await _controller.LoginAsync(UsernameEntry.Text, PasswordEntry.Text);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182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35923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LoginPage.xaml.cs  (3/4)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FEDAF5-2767-43E8-9A2C-445F5BD26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922781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9023747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if (resultado.Success)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PasswordEntry.Text = string.Empty;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await Shell.Current.GoToAsync("//main/conversion");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else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MostrarError(resultado.Message);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catch (Exception)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MostrarError("Ocurrió un error inesperado. Intente de nuevo.");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finally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MostrarCargando(false);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9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void MostrarCargando(bool cargando)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IngresarButton.IsEnabled = !cargando;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UsernameEntry.IsEnabled = !cargando;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PasswordEntry.IsEnabled = !cargando;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CargandoIndicator.IsRunning = cargando;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CargandoIndicator.IsVisible = cargando;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182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7213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3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LoginPage.xaml.cs  (4/4)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continuación</a:t>
            </a:r>
            <a:endParaRPr sz="1200" i="1">
              <a:solidFill>
                <a:srgbClr val="6B7280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FEDAF5-2767-43E8-9A2C-445F5BD26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722239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90237477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void MostrarError(string mensaje)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ErrorLabel.Text = mensaje;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ErrorLabel.IsVisible = true;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9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182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1112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1.6.4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F6C813-06A0-4F01-9E4C-0E0CF05C8C2D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58125-3C13-AD78-9C76-DAAAEE05474C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8385C9-7B7A-28BE-CF9F-7520B7660FAF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458F9D-76C1-B8DA-E90D-592757FB24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579"/>
          <a:stretch>
            <a:fillRect/>
          </a:stretch>
        </p:blipFill>
        <p:spPr>
          <a:xfrm>
            <a:off x="702628" y="3010242"/>
            <a:ext cx="1944447" cy="3386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4AA543-4C80-4467-3554-41AF6F266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432" y="2937019"/>
            <a:ext cx="1788140" cy="38724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23D534-7A86-AE7A-6A19-3F81F7192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9727" y="2937019"/>
            <a:ext cx="1588814" cy="34407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BF8867-0A7B-1117-2639-3A26A8E99D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8541" y="2937019"/>
            <a:ext cx="1554362" cy="336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2121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1844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El servidor SOAP fue consumido por cuatro clientes distintos sin cambiar su lógica, lo que muestra la interoperabilidad de una arquitectura orientada a servicios.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La autenticación por token separa la seguridad de la lógica de conversión.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Aplicar MVC en cada cliente permitió repetir la misma estructura en consola, escritorio, web y móvil.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SoapCore permitió publicar servicios SOAP con su contrato WSDL sobre ASP.NET Core, sin depender de WCF en el servidor.</a:t>
            </a:r>
            <a:endParaRPr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438038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1844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Usar una base de datos para los usuarios y el historial de conversiones.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Usar HTTPS y WS-Security para proteger el token en la red.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Validar en el servidor que las dos unidades pertenezcan a la magnitud elegida.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Regenerar las referencias de servicio de los clientes cada vez que cambie el contrato WSDL del servidor.</a:t>
            </a:r>
            <a:endParaRPr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SOAP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407617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12553</Words>
  <Application>Microsoft Office PowerPoint</Application>
  <PresentationFormat>Widescreen</PresentationFormat>
  <Paragraphs>2515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5" baseType="lpstr">
      <vt:lpstr>Cambria</vt:lpstr>
      <vt:lpstr>Noto Sans Symbols</vt:lpstr>
      <vt:lpstr>Calibri</vt:lpstr>
      <vt:lpstr>Gill Sans</vt:lpstr>
      <vt:lpstr>Arial</vt:lpstr>
      <vt:lpstr>Dividendo</vt:lpstr>
      <vt:lpstr>MANUAL CONVERSIÓN UNIDADES SOAP .NET</vt:lpstr>
      <vt:lpstr>PowerPoint Presentation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</cp:lastModifiedBy>
  <cp:revision>7</cp:revision>
  <dcterms:modified xsi:type="dcterms:W3CDTF">2026-10-27T17:42:46Z</dcterms:modified>
</cp:coreProperties>
</file>